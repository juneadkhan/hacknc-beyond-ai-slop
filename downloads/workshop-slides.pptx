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e90baada514758" /><Relationship Type="http://schemas.openxmlformats.org/officeDocument/2006/relationships/extended-properties" Target="/docProps/app.xml" Id="R3661191921df4ce9" /><Relationship Type="http://schemas.openxmlformats.org/officeDocument/2006/relationships/officeDocument" Target="/ppt/presentation.xml" Id="Rd75b3dc530514175" /></Relationships>
</file>

<file path=ppt/presentation.xml><?xml version="1.0" encoding="utf-8"?>
<p:presentation xmlns:p="http://schemas.openxmlformats.org/presentationml/2006/main">
  <p:sldMasterIdLst>
    <p:sldMasterId xmlns:r="http://schemas.openxmlformats.org/officeDocument/2006/relationships" id="2147483648" r:id="Re394ba3f49694d1e"/>
  </p:sldMasterIdLst>
  <p:notesMasterIdLst>
    <p:notesMasterId xmlns:r="http://schemas.openxmlformats.org/officeDocument/2006/relationships" r:id="R7bbd98e2ad65429e"/>
  </p:notesMasterIdLst>
  <p:sldIdLst>
    <p:sldId xmlns:r="http://schemas.openxmlformats.org/officeDocument/2006/relationships" id="256" r:id="R120e24263cb048fc"/>
    <p:sldId xmlns:r="http://schemas.openxmlformats.org/officeDocument/2006/relationships" id="257" r:id="R5a72becd45d54540"/>
    <p:sldId xmlns:r="http://schemas.openxmlformats.org/officeDocument/2006/relationships" id="258" r:id="Rc4342b303614416f"/>
    <p:sldId xmlns:r="http://schemas.openxmlformats.org/officeDocument/2006/relationships" id="259" r:id="R91fc96cadc8f4b5f"/>
    <p:sldId xmlns:r="http://schemas.openxmlformats.org/officeDocument/2006/relationships" id="260" r:id="R86d3d1cb4b314723"/>
    <p:sldId xmlns:r="http://schemas.openxmlformats.org/officeDocument/2006/relationships" id="261" r:id="Rb22ee8a12c40447b"/>
    <p:sldId xmlns:r="http://schemas.openxmlformats.org/officeDocument/2006/relationships" id="262" r:id="R2a30ada21b474d92"/>
    <p:sldId xmlns:r="http://schemas.openxmlformats.org/officeDocument/2006/relationships" id="263" r:id="R13b52127ac3a4483"/>
    <p:sldId xmlns:r="http://schemas.openxmlformats.org/officeDocument/2006/relationships" id="264" r:id="R96795fea57674b75"/>
    <p:sldId xmlns:r="http://schemas.openxmlformats.org/officeDocument/2006/relationships" id="265" r:id="Rcca9976c85564c98"/>
    <p:sldId xmlns:r="http://schemas.openxmlformats.org/officeDocument/2006/relationships" id="266" r:id="Re84f0f60dced44a0"/>
    <p:sldId xmlns:r="http://schemas.openxmlformats.org/officeDocument/2006/relationships" id="267" r:id="R6e40f12444624d32"/>
    <p:sldId xmlns:r="http://schemas.openxmlformats.org/officeDocument/2006/relationships" id="268" r:id="Rd5eb9072492f46e7"/>
    <p:sldId xmlns:r="http://schemas.openxmlformats.org/officeDocument/2006/relationships" id="269" r:id="Rab8b0174d9944b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58e878b37941e6" /><Relationship Type="http://schemas.openxmlformats.org/officeDocument/2006/relationships/slideMaster" Target="/ppt/slideMasters/slideMaster1.xml" Id="Re394ba3f49694d1e" /><Relationship Type="http://schemas.openxmlformats.org/officeDocument/2006/relationships/notesMaster" Target="/ppt/notesMasters/notesMaster1.xml" Id="R7bbd98e2ad65429e" /><Relationship Type="http://schemas.openxmlformats.org/officeDocument/2006/relationships/presProps" Target="/ppt/presProps.xml" Id="Ra96f9b2c3f17439f" /><Relationship Type="http://schemas.openxmlformats.org/officeDocument/2006/relationships/tableStyles" Target="/ppt/tableStyles.xml" Id="R89dbc0a8b27a4dec" /><Relationship Type="http://schemas.openxmlformats.org/officeDocument/2006/relationships/slide" Target="/ppt/slides/slide1.xml" Id="R120e24263cb048fc" /><Relationship Type="http://schemas.openxmlformats.org/officeDocument/2006/relationships/slide" Target="/ppt/slides/slide2.xml" Id="R5a72becd45d54540" /><Relationship Type="http://schemas.openxmlformats.org/officeDocument/2006/relationships/slide" Target="/ppt/slides/slide3.xml" Id="Rc4342b303614416f" /><Relationship Type="http://schemas.openxmlformats.org/officeDocument/2006/relationships/slide" Target="/ppt/slides/slide4.xml" Id="R91fc96cadc8f4b5f" /><Relationship Type="http://schemas.openxmlformats.org/officeDocument/2006/relationships/slide" Target="/ppt/slides/slide5.xml" Id="R86d3d1cb4b314723" /><Relationship Type="http://schemas.openxmlformats.org/officeDocument/2006/relationships/slide" Target="/ppt/slides/slide6.xml" Id="Rb22ee8a12c40447b" /><Relationship Type="http://schemas.openxmlformats.org/officeDocument/2006/relationships/slide" Target="/ppt/slides/slide7.xml" Id="R2a30ada21b474d92" /><Relationship Type="http://schemas.openxmlformats.org/officeDocument/2006/relationships/slide" Target="/ppt/slides/slide8.xml" Id="R13b52127ac3a4483" /><Relationship Type="http://schemas.openxmlformats.org/officeDocument/2006/relationships/slide" Target="/ppt/slides/slide9.xml" Id="R96795fea57674b75" /><Relationship Type="http://schemas.openxmlformats.org/officeDocument/2006/relationships/slide" Target="/ppt/slides/slide10.xml" Id="Rcca9976c85564c98" /><Relationship Type="http://schemas.openxmlformats.org/officeDocument/2006/relationships/slide" Target="/ppt/slides/slide11.xml" Id="Re84f0f60dced44a0" /><Relationship Type="http://schemas.openxmlformats.org/officeDocument/2006/relationships/slide" Target="/ppt/slides/slide12.xml" Id="R6e40f12444624d32" /><Relationship Type="http://schemas.openxmlformats.org/officeDocument/2006/relationships/slide" Target="/ppt/slides/slide13.xml" Id="Rd5eb9072492f46e7" /><Relationship Type="http://schemas.openxmlformats.org/officeDocument/2006/relationships/slide" Target="/ppt/slides/slide14.xml" Id="Rab8b0174d9944b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303fce96ff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cee9b06db6440b" /><Relationship Type="http://schemas.openxmlformats.org/officeDocument/2006/relationships/notesMaster" Target="/ppt/notesMasters/notesMaster1.xml" Id="R6bd9e502c4cf47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620391e28d4a32" /><Relationship Type="http://schemas.openxmlformats.org/officeDocument/2006/relationships/notesMaster" Target="/ppt/notesMasters/notesMaster1.xml" Id="R028ee1685ccc4b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3cdcae4acb4590" /><Relationship Type="http://schemas.openxmlformats.org/officeDocument/2006/relationships/notesMaster" Target="/ppt/notesMasters/notesMaster1.xml" Id="R1ccfc1d8a08741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b574675aa945f6" /><Relationship Type="http://schemas.openxmlformats.org/officeDocument/2006/relationships/notesMaster" Target="/ppt/notesMasters/notesMaster1.xml" Id="R5954d140fdd84c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3d1a4d80864115" /><Relationship Type="http://schemas.openxmlformats.org/officeDocument/2006/relationships/notesMaster" Target="/ppt/notesMasters/notesMaster1.xml" Id="R2034520afc5f4c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7c0fee6c414e0b" /><Relationship Type="http://schemas.openxmlformats.org/officeDocument/2006/relationships/notesMaster" Target="/ppt/notesMasters/notesMaster1.xml" Id="R595dd617087841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2321c00e424510" /><Relationship Type="http://schemas.openxmlformats.org/officeDocument/2006/relationships/notesMaster" Target="/ppt/notesMasters/notesMaster1.xml" Id="R497fd63d045a43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68f8a82f1146e4" /><Relationship Type="http://schemas.openxmlformats.org/officeDocument/2006/relationships/notesMaster" Target="/ppt/notesMasters/notesMaster1.xml" Id="Rd8439a43bf884b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0691857437416b" /><Relationship Type="http://schemas.openxmlformats.org/officeDocument/2006/relationships/notesMaster" Target="/ppt/notesMasters/notesMaster1.xml" Id="Re9b52623958b43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7906799aba4f47" /><Relationship Type="http://schemas.openxmlformats.org/officeDocument/2006/relationships/notesMaster" Target="/ppt/notesMasters/notesMaster1.xml" Id="R65648ebd287a45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889091c7eb458e" /><Relationship Type="http://schemas.openxmlformats.org/officeDocument/2006/relationships/notesMaster" Target="/ppt/notesMasters/notesMaster1.xml" Id="R69d5ad55f93e43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493ac381444d2d" /><Relationship Type="http://schemas.openxmlformats.org/officeDocument/2006/relationships/notesMaster" Target="/ppt/notesMasters/notesMaster1.xml" Id="Radb7f44b325840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ab8490df6a44f1" /><Relationship Type="http://schemas.openxmlformats.org/officeDocument/2006/relationships/notesMaster" Target="/ppt/notesMasters/notesMaster1.xml" Id="Rc4c650fc64204a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d0f79129fe45cf" /><Relationship Type="http://schemas.openxmlformats.org/officeDocument/2006/relationships/notesMaster" Target="/ppt/notesMasters/notesMaster1.xml" Id="R994110f2e8504c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Welcome. I'm Junead, the founder of Treasury. Money interfaces make you care about which number matters, the date attached to it, and the next action. Today we give AI those choices explicitly. This workshop uses fictional data and a prepared starter. It is not a product demo or a model benchmark.</a:t>
            </a:r>
          </a:p>
          <a:p xmlns:a="http://schemas.openxmlformats.org/drawingml/2006/main">
            <a:r>
              <a:t>Promise: leave with your own design system and a working redesign.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1:00–3:00. Keep this up as students arrive. QR opens the workshop studio. Laptop browser recommended. Studio needs no account/install/API/subscription. Use an existing AI chat; those services have their own limits and eligibility. No purchase required. Pair up or use prepared reference CSS if access fails. Mention starter ZIP for students who prefer their own editor.</a:t>
            </a:r>
          </a:p>
          <a:p xmlns:a="http://schemas.openxmlformats.org/drawingml/2006/main">
            <a:r>
              <a:t>Tool sources, checked Oct 9, 2026: https://support.google.com/gemini/answer/13275745 ; https://support.google.com/gemini/answer/16275805 ; workshop TOOLS.md.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3:00–5:00. Show original app in studio, or use screenshot. Give 30 seconds: Which bills are due before Friday's paycheck? Ask what students noticed first. Do not coach them. This is a task test, not controlled research. Answer: Phone $62 Oct 11, gym $29 Oct 13, electricity $48 Oct 15; 3 bills total $139. Rent $720 Nov 1 is after payday.</a:t>
            </a:r>
          </a:p>
          <a:p xmlns:a="http://schemas.openxmlformats.org/drawingml/2006/main">
            <a:r>
              <a:t>Image: actual prepared Friday starter; authored for workshop, not output attributed to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5:00–7:00. Ask the room for observations. Show original at 390px. Bills are fourth after balance/spending/note. Filters share a task but differ in typography, radii and borders; rows have unrelated styles. Explain that gradients can fit a coherent direction, including HackNC Aero. Removing gradients alone does not repair hierarchy.</a:t>
            </a:r>
          </a:p>
          <a:p xmlns:a="http://schemas.openxmlformats.org/drawingml/2006/main">
            <a:r>
              <a:t>Image: actual original app at 390px, top viewport; bill content is below this viewport.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7:00–9:00. A design system is shared decisions, not just a palette. Purpose establishes task; semantic tokens name roles; reusable components enforce consistent use; rules describe when/how components work, including exceptions and states. Explain this is a small system designed for one exercise. Larger systems add foundations, documentation, governance and tooling.</a:t>
            </a:r>
          </a:p>
          <a:p xmlns:a="http://schemas.openxmlformats.org/drawingml/2006/main">
            <a:r>
              <a:t>Sources: https://carbondesignsystem.com/ ; https://help.figma.com/hc/en-us/articles/43602393097239-Write-design-system-guidelines-for-Make-kits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9:00–10:30. Explain :root and CSS variables for beginners. Semantic accent is an action/identity role, not a description of one hex color. Components consume role tokens. A new accent/on-accent pair updates brand, primary button, chart bars and selected filter border in the prepared references. Changes to colors must preserve readable contrast.</a:t>
            </a:r>
          </a:p>
          <a:p xmlns:a="http://schemas.openxmlformats.org/drawingml/2006/main">
            <a:r>
              <a:t>Code is a shortened teaching example; complete CSS is in reference 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10:30–12:00. Repeated items should reuse rules. Hierarchy is a deliberate difference: primary action differs from filter. Selected state uses aria-pressed, keyboard uses focus-visible. Show live Ledger filter and bill dialog if time. CSS does not replace markup/interaction/accessibility testing. The fixture preserves native dialog and buttons.</a:t>
            </a:r>
          </a:p>
          <a:p xmlns:a="http://schemas.openxmlformats.org/drawingml/2006/main">
            <a:r>
              <a:t>Source: https://www.radix-ui.com/primitives/docs/overview/introduction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12:00–13:00. A quick survey, not a library install. Carbon is IBM's open-source product system. Fluent 2 is Microsoft's cross-platform design system. Radix Primitives provides accessible, unstyled component behaviors: it is not a complete visual identity. Do not imply all are interchangeable or all work in every framework. Our CSS exercise imports none.</a:t>
            </a:r>
          </a:p>
          <a:p xmlns:a="http://schemas.openxmlformats.org/drawingml/2006/main">
            <a:r>
              <a:t>Sources accessed Oct 9, 2026: https://carbondesignsystem.com/ ; https://fluent2.microsoft.design/ ; https://www.radix-ui.com/primitives/docs/overview/introduction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13:00–15:00. Prepared examples on exactly the same app, not AI benchmark outputs. Ledger: quiet reading; serif display and restrained blue; bills first. Signal: technical clarity; dark panels, monospace, mint accents. Aero: optimistic gloss; blue surfaces, tactile controls, readable dates. Students may invent another direction. Ask for audience/mood/type/density/priority, not just an adjective like pretty.</a:t>
            </a:r>
          </a:p>
          <a:p xmlns:a="http://schemas.openxmlformats.org/drawingml/2006/main">
            <a:r>
              <a:t>Images: actual workshop reference app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15:00–21:00. Move to studio. Direction: optimistic campus planner with Aero gloss; dates first. Copy system prompt and send to chosen chat. Review guide instead of blindly accepting. Paste guide, copy implementation prompt, send, paste full CSS, Apply. Check390px, before-payday filter, open bill and Escape. One actual observation should lead revision. If response exceeds ~45 seconds use prepared CSS; state honestly that it is prepared. If model produces HTML despite constraints, ask for CSS only.</a:t>
            </a:r>
          </a:p>
          <a:p xmlns:a="http://schemas.openxmlformats.org/drawingml/2006/main">
            <a:r>
              <a:t>Context guidance: https://help.figma.com/hc/en-us/articles/38978644498199-AI-workflows-collection-Refine-your-components-and-variables-for-the-Figma-agent ; https://help.figma.com/hc/en-us/articles/43602393097239-Write-design-system-guidelines-for-Make-kits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21:00–33:00. Start browser timer with Start12min. At3min ask for a guide; at6min a visible preview; at10min mobile and keyboard checks. Circulate. Students can pair. Reference CSS is valid fallback. No purchases. The studio supports prompt copy, CSS paste/apply, undo, import, local autosave and downloads. Have beginners change tokens before fine layout. Advanced students may use starter in their editor.</a:t>
            </a:r>
          </a:p>
          <a:p xmlns:a="http://schemas.openxmlformats.org/drawingml/2006/main">
            <a:r>
              <a:t>Pedagogy: https://workshops.hackclub.com/sprig/ ; https://carpentries.github.io/instructor-training/17-live.html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33:00–39:00. Pairs test without explanation: find the3bills and dates before payday, open a bill, use keyboard, mobile preview. Answer three $139 phone62 gym29 electricity48. Invite two volunteers representing different styles. Each shares one reusable rule and one remaining problem. Do not select only polished aesthetics. Time/score is informal feedback, not controlled research.</a:t>
            </a:r>
          </a:p>
          <a:p xmlns:a="http://schemas.openxmlformats.org/drawingml/2006/main">
            <a:r>
              <a:t>Use student rubric for task clarity/system consistency/direction/readability/interaction/integrity.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39:00–42:00. Transfer beyond this toy: identify user task, choose direction, reuse existing system/components before new ones, save guide beside code, ask one change at time and inspect. CSS-only is deliberately constrained for setup and fair comparison; a real product may need changes to structure, content or workflow. Treasury lesson is truthful amount/date labels, clear priority and predictable interactions. No product claims beyond these design decisions.</a:t>
            </a:r>
          </a:p>
          <a:p xmlns:a="http://schemas.openxmlformats.org/drawingml/2006/main">
            <a:r>
              <a:t>Source: Figma Make guidelines above; external guidance motivates this exercise, not measured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42:00–45:00. Download my app and my guide. Exported HTML opens independently. Browser storage is local only; downloads are the handoff. Closing question: what one rule will you carry into your hack? Mention Treasury briefly and invite conversation after. No promise of unconfigured student promo or access. The joinQR remains available. Source links and tool options live in workshop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ee3995df1740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6b10e7946f47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b6da4c630244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3dad5ecef047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7b6f44050242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486c9579c94a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7FD364-8F8E-46E7-9872-5C7A78E753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C13CCE-2392-431B-A27D-D81231D845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F4D683-4ED2-4866-96E6-1F092F46CE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42A1D8-4609-4309-99E8-2421FE7AA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675B36-CD39-4682-8AA3-9EA6528699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1DF262-E759-40BF-90D4-8F2A47F5F3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42D221-D635-4E50-A2C1-AEDEB0C91E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04015C-BB1C-483C-9E00-F43467EB2C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3A4718-2056-41F0-96D6-9820AFF16D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D0AF70-7C1B-4FB7-B77D-8CCFAF8078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a924063e184673" /><Relationship Type="http://schemas.openxmlformats.org/officeDocument/2006/relationships/slideLayout" Target="/ppt/slideLayouts/slideLayout1.xml" Id="R548e1aa854c64c46" /><Relationship Type="http://schemas.openxmlformats.org/officeDocument/2006/relationships/slideLayout" Target="/ppt/slideLayouts/slideLayout2.xml" Id="R46843ad625bb41cb" /><Relationship Type="http://schemas.openxmlformats.org/officeDocument/2006/relationships/slideLayout" Target="/ppt/slideLayouts/slideLayout3.xml" Id="Raec89eab30934e98" /><Relationship Type="http://schemas.openxmlformats.org/officeDocument/2006/relationships/slideLayout" Target="/ppt/slideLayouts/slideLayout4.xml" Id="Rdf441bad19084601" /><Relationship Type="http://schemas.openxmlformats.org/officeDocument/2006/relationships/slideLayout" Target="/ppt/slideLayouts/slideLayout5.xml" Id="R49cb99e5112f4c82" /><Relationship Type="http://schemas.openxmlformats.org/officeDocument/2006/relationships/slideLayout" Target="/ppt/slideLayouts/slideLayout6.xml" Id="Rd702318daf0d4a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8e1aa854c64c46"/>
    <p:sldLayoutId xmlns:r="http://schemas.openxmlformats.org/officeDocument/2006/relationships" id="2147483650" r:id="R46843ad625bb41cb"/>
    <p:sldLayoutId xmlns:r="http://schemas.openxmlformats.org/officeDocument/2006/relationships" id="2147483651" r:id="Raec89eab30934e98"/>
    <p:sldLayoutId xmlns:r="http://schemas.openxmlformats.org/officeDocument/2006/relationships" id="2147483652" r:id="Rdf441bad19084601"/>
    <p:sldLayoutId xmlns:r="http://schemas.openxmlformats.org/officeDocument/2006/relationships" id="2147483653" r:id="R49cb99e5112f4c82"/>
    <p:sldLayoutId xmlns:r="http://schemas.openxmlformats.org/officeDocument/2006/relationships" id="2147483654" r:id="Rd702318daf0d4a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65fab4aaff4b3c" /><Relationship Type="http://schemas.openxmlformats.org/officeDocument/2006/relationships/notesSlide" Target="/ppt/notesSlides/notesSlide1.xml" Id="R02ad1eb56eaf40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3230379076491b" /><Relationship Type="http://schemas.openxmlformats.org/officeDocument/2006/relationships/image" Target="/ppt/media/image.png" Id="Rb1d2914b31b0440b" /><Relationship Type="http://schemas.openxmlformats.org/officeDocument/2006/relationships/notesSlide" Target="/ppt/notesSlides/notesSlide2.xml" Id="R1089896b505a45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a9bd1a1caf444d" /><Relationship Type="http://schemas.openxmlformats.org/officeDocument/2006/relationships/image" Target="/ppt/media/image2.png" Id="R00418d5d885c4e35" /><Relationship Type="http://schemas.openxmlformats.org/officeDocument/2006/relationships/notesSlide" Target="/ppt/notesSlides/notesSlide3.xml" Id="R70543785d7044b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7b87d8d36d4e8a" /><Relationship Type="http://schemas.openxmlformats.org/officeDocument/2006/relationships/image" Target="/ppt/media/image3.png" Id="Rd860a4e5dbcb487d" /><Relationship Type="http://schemas.openxmlformats.org/officeDocument/2006/relationships/notesSlide" Target="/ppt/notesSlides/notesSlide4.xml" Id="R66a7d569e94147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b814dd4b8a4a80" /><Relationship Type="http://schemas.openxmlformats.org/officeDocument/2006/relationships/notesSlide" Target="/ppt/notesSlides/notesSlide5.xml" Id="R38101a3728f54e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c41c2f28564ba6" /><Relationship Type="http://schemas.openxmlformats.org/officeDocument/2006/relationships/notesSlide" Target="/ppt/notesSlides/notesSlide6.xml" Id="Ref666a9d4c3d40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673caffb6746a8" /><Relationship Type="http://schemas.openxmlformats.org/officeDocument/2006/relationships/notesSlide" Target="/ppt/notesSlides/notesSlide7.xml" Id="R898965d6020b4a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a3468c22b54d8e" /><Relationship Type="http://schemas.openxmlformats.org/officeDocument/2006/relationships/notesSlide" Target="/ppt/notesSlides/notesSlide8.xml" Id="R3aee1e87269443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1b48ac60ecf431d" /><Relationship Type="http://schemas.openxmlformats.org/officeDocument/2006/relationships/image" Target="/ppt/media/image4.png" Id="R81706c65b2dc4f3d" /><Relationship Type="http://schemas.openxmlformats.org/officeDocument/2006/relationships/image" Target="/ppt/media/image5.png" Id="Re787fd1c6a964ffc" /><Relationship Type="http://schemas.openxmlformats.org/officeDocument/2006/relationships/image" Target="/ppt/media/image6.png" Id="Rdc6ec5999f454c9f" /><Relationship Type="http://schemas.openxmlformats.org/officeDocument/2006/relationships/notesSlide" Target="/ppt/notesSlides/notesSlide9.xml" Id="R840868ea223646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ace798404d46d4" /><Relationship Type="http://schemas.openxmlformats.org/officeDocument/2006/relationships/notesSlide" Target="/ppt/notesSlides/notesSlide10.xml" Id="Rc22a886a5e2f4c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f479af7b0b4653" /><Relationship Type="http://schemas.openxmlformats.org/officeDocument/2006/relationships/notesSlide" Target="/ppt/notesSlides/notesSlide11.xml" Id="Re20a1963000847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5fbb6da87ff4f6d" /><Relationship Type="http://schemas.openxmlformats.org/officeDocument/2006/relationships/notesSlide" Target="/ppt/notesSlides/notesSlide12.xml" Id="R954eb18c9ee846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881f9febda4f59" /><Relationship Type="http://schemas.openxmlformats.org/officeDocument/2006/relationships/notesSlide" Target="/ppt/notesSlides/notesSlide13.xml" Id="R4034cef3f9ee47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045d1247384d14" /><Relationship Type="http://schemas.openxmlformats.org/officeDocument/2006/relationships/image" Target="/ppt/media/image7.png" Id="R57dfa4f00cc34fe7" /><Relationship Type="http://schemas.openxmlformats.org/officeDocument/2006/relationships/notesSlide" Target="/ppt/notesSlides/notesSlide14.xml" Id="R608fae40abfa400b" /></Relationships>
</file>

<file path=ppt/slides/slide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792137-41C5-4EF3-9B7F-2F943EA8DD2C}"/>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A HANDS-ON WORKSHOP</a:t>
            </a:r>
          </a:p>
        </p:txBody>
      </p:sp>
      <p:sp>
        <p:nvSpPr>
          <p:cNvPr id="2" name="">
            <a:extLst xmlns:a="http://schemas.openxmlformats.org/drawingml/2006/main">
              <a:ext uri="{FF2B5EF4-FFF2-40B4-BE49-F238E27FC236}">
                <a16:creationId xmlns:a16="http://schemas.microsoft.com/office/drawing/2014/main" id="{BC9C951C-E59A-4F01-9B6C-720E3DA2BC48}"/>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95EB77-F0E6-47D9-A49D-E4A4216520F2}"/>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4" name="">
            <a:extLst xmlns:a="http://schemas.openxmlformats.org/drawingml/2006/main">
              <a:ext uri="{FF2B5EF4-FFF2-40B4-BE49-F238E27FC236}">
                <a16:creationId xmlns:a16="http://schemas.microsoft.com/office/drawing/2014/main" id="{A7B29FD1-C850-4A86-9972-E7FCB01E70AB}"/>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01</a:t>
            </a:r>
          </a:p>
        </p:txBody>
      </p:sp>
      <p:sp>
        <p:nvSpPr>
          <p:cNvPr id="5" name="">
            <a:extLst xmlns:a="http://schemas.openxmlformats.org/drawingml/2006/main">
              <a:ext uri="{FF2B5EF4-FFF2-40B4-BE49-F238E27FC236}">
                <a16:creationId xmlns:a16="http://schemas.microsoft.com/office/drawing/2014/main" id="{0BD44A5A-2F9B-4067-ABE8-E78DDF25AE7E}"/>
              </a:ext>
            </a:extLst>
          </p:cNvPr>
          <p:cNvSpPr>
            <a:spLocks xmlns:a="http://schemas.openxmlformats.org/drawingml/2006/main" noGrp="1"/>
          </p:cNvSpPr>
          <p:nvPr/>
        </p:nvSpPr>
        <p:spPr>
          <a:xfrm xmlns:a="http://schemas.openxmlformats.org/drawingml/2006/main">
            <a:off x="609600" y="1104900"/>
            <a:ext cx="7810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7200">
                <a:solidFill>
                  <a:srgbClr val="211E1A"/>
                </a:solidFill>
                <a:latin typeface="Georgia"/>
                <a:ea typeface="Georgia"/>
                <a:cs typeface="Georgia"/>
              </a:defRPr>
            </a:defPPr>
          </a:lstStyle>
          <a:p xmlns:a="http://schemas.openxmlformats.org/drawingml/2006/main">
            <a:pPr>
              <a:lnSpc>
                <a:spcPct val="115000"/>
              </a:lnSpc>
              <a:buNone/>
              <a:defRPr sz="7200">
                <a:solidFill>
                  <a:srgbClr val="211E1A"/>
                </a:solidFill>
                <a:latin typeface="Georgia"/>
                <a:ea typeface="Georgia"/>
                <a:cs typeface="Georgia"/>
              </a:defRPr>
            </a:pPr>
            <a:r>
              <a:rPr sz="7200">
                <a:solidFill>
                  <a:srgbClr val="211E1A"/>
                </a:solidFill>
                <a:latin typeface="Georgia"/>
                <a:ea typeface="Georgia"/>
                <a:cs typeface="Georgia"/>
              </a:rPr>
              <a:t>Beyond</a:t>
            </a:r>
          </a:p>
          <a:p xmlns:a="http://schemas.openxmlformats.org/drawingml/2006/main">
            <a:pPr>
              <a:lnSpc>
                <a:spcPct val="115000"/>
              </a:lnSpc>
              <a:buNone/>
              <a:defRPr sz="7200">
                <a:solidFill>
                  <a:srgbClr val="211E1A"/>
                </a:solidFill>
                <a:latin typeface="Georgia"/>
                <a:ea typeface="Georgia"/>
                <a:cs typeface="Georgia"/>
              </a:defRPr>
            </a:pPr>
            <a:r>
              <a:rPr sz="7200">
                <a:solidFill>
                  <a:srgbClr val="211E1A"/>
                </a:solidFill>
                <a:latin typeface="Georgia"/>
                <a:ea typeface="Georgia"/>
                <a:cs typeface="Georgia"/>
              </a:rPr>
              <a:t>AI Slop</a:t>
            </a:r>
          </a:p>
        </p:txBody>
      </p:sp>
      <p:sp>
        <p:nvSpPr>
          <p:cNvPr id="6" name="">
            <a:extLst xmlns:a="http://schemas.openxmlformats.org/drawingml/2006/main">
              <a:ext uri="{FF2B5EF4-FFF2-40B4-BE49-F238E27FC236}">
                <a16:creationId xmlns:a16="http://schemas.microsoft.com/office/drawing/2014/main" id="{1B4DE7DF-D700-40AF-BF57-CCC882B147AD}"/>
              </a:ext>
            </a:extLst>
          </p:cNvPr>
          <p:cNvSpPr>
            <a:spLocks xmlns:a="http://schemas.openxmlformats.org/drawingml/2006/main" noGrp="1"/>
          </p:cNvSpPr>
          <p:nvPr/>
        </p:nvSpPr>
        <p:spPr>
          <a:xfrm xmlns:a="http://schemas.openxmlformats.org/drawingml/2006/main">
            <a:off x="647700" y="3762375"/>
            <a:ext cx="9715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a:solidFill>
                  <a:srgbClr val="625D55"/>
                </a:solidFill>
                <a:latin typeface="Lexend"/>
                <a:ea typeface="Lexend"/>
                <a:cs typeface="Lexend"/>
              </a:defRPr>
            </a:defPPr>
          </a:lstStyle>
          <a:p xmlns:a="http://schemas.openxmlformats.org/drawingml/2006/main">
            <a:pPr>
              <a:lnSpc>
                <a:spcPct val="115000"/>
              </a:lnSpc>
              <a:buNone/>
              <a:defRPr sz="2850">
                <a:solidFill>
                  <a:srgbClr val="625D55"/>
                </a:solidFill>
                <a:latin typeface="Lexend"/>
                <a:ea typeface="Lexend"/>
                <a:cs typeface="Lexend"/>
              </a:defRPr>
            </a:pPr>
            <a:r>
              <a:rPr sz="2850">
                <a:solidFill>
                  <a:srgbClr val="625D55"/>
                </a:solidFill>
                <a:latin typeface="Lexend"/>
                <a:ea typeface="Lexend"/>
                <a:cs typeface="Lexend"/>
              </a:rPr>
              <a:t>Building better interfaces</a:t>
            </a:r>
          </a:p>
          <a:p xmlns:a="http://schemas.openxmlformats.org/drawingml/2006/main">
            <a:pPr>
              <a:lnSpc>
                <a:spcPct val="115000"/>
              </a:lnSpc>
              <a:buNone/>
              <a:defRPr sz="2850">
                <a:solidFill>
                  <a:srgbClr val="625D55"/>
                </a:solidFill>
                <a:latin typeface="Lexend"/>
                <a:ea typeface="Lexend"/>
                <a:cs typeface="Lexend"/>
              </a:defRPr>
            </a:pPr>
            <a:r>
              <a:rPr sz="2850">
                <a:solidFill>
                  <a:srgbClr val="625D55"/>
                </a:solidFill>
                <a:latin typeface="Lexend"/>
                <a:ea typeface="Lexend"/>
                <a:cs typeface="Lexend"/>
              </a:rPr>
              <a:t>with design systems</a:t>
            </a:r>
          </a:p>
        </p:txBody>
      </p:sp>
      <p:sp>
        <p:nvSpPr>
          <p:cNvPr id="7" name="">
            <a:extLst xmlns:a="http://schemas.openxmlformats.org/drawingml/2006/main">
              <a:ext uri="{FF2B5EF4-FFF2-40B4-BE49-F238E27FC236}">
                <a16:creationId xmlns:a16="http://schemas.microsoft.com/office/drawing/2014/main" id="{112E189B-D4BE-410E-8C2C-200C66FDEAB8}"/>
              </a:ext>
            </a:extLst>
          </p:cNvPr>
          <p:cNvSpPr>
            <a:spLocks xmlns:a="http://schemas.openxmlformats.org/drawingml/2006/main" noGrp="1"/>
          </p:cNvSpPr>
          <p:nvPr/>
        </p:nvSpPr>
        <p:spPr>
          <a:xfrm xmlns:a="http://schemas.openxmlformats.org/drawingml/2006/main">
            <a:off x="647700" y="53340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211E1A"/>
                </a:solidFill>
                <a:latin typeface="Lexend"/>
                <a:ea typeface="Lexend"/>
                <a:cs typeface="Lexend"/>
              </a:defRPr>
            </a:defPPr>
          </a:lstStyle>
          <a:p xmlns:a="http://schemas.openxmlformats.org/drawingml/2006/main">
            <a:pPr>
              <a:lnSpc>
                <a:spcPct val="115000"/>
              </a:lnSpc>
              <a:buNone/>
              <a:defRPr sz="1800">
                <a:solidFill>
                  <a:srgbClr val="211E1A"/>
                </a:solidFill>
                <a:latin typeface="Lexend"/>
                <a:ea typeface="Lexend"/>
                <a:cs typeface="Lexend"/>
              </a:defRPr>
            </a:pPr>
            <a:r>
              <a:rPr sz="1800">
                <a:solidFill>
                  <a:srgbClr val="211E1A"/>
                </a:solidFill>
                <a:latin typeface="Lexend"/>
                <a:ea typeface="Lexend"/>
                <a:cs typeface="Lexend"/>
              </a:rPr>
              <a:t>Junead Khan  ·  Founder, Treasury</a:t>
            </a:r>
          </a:p>
        </p:txBody>
      </p:sp>
    </p:spTree>
    <p:extLst>
      <p:ext uri="{BB962C8B-B14F-4D97-AF65-F5344CB8AC3E}">
        <p14:creationId xmlns:p14="http://schemas.microsoft.com/office/powerpoint/2010/main" val="507825530"/>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F77965-CA57-459F-B932-C085BABE3962}"/>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START HERE</a:t>
            </a:r>
          </a:p>
        </p:txBody>
      </p:sp>
      <p:sp>
        <p:nvSpPr>
          <p:cNvPr id="2" name="">
            <a:extLst xmlns:a="http://schemas.openxmlformats.org/drawingml/2006/main">
              <a:ext uri="{FF2B5EF4-FFF2-40B4-BE49-F238E27FC236}">
                <a16:creationId xmlns:a16="http://schemas.microsoft.com/office/drawing/2014/main" id="{E5F9B3F0-DED1-4D0E-9A50-725B6C125015}"/>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Join the studio. Pair up if needed.</a:t>
            </a:r>
          </a:p>
        </p:txBody>
      </p:sp>
      <p:sp>
        <p:nvSpPr>
          <p:cNvPr id="3" name="">
            <a:extLst xmlns:a="http://schemas.openxmlformats.org/drawingml/2006/main">
              <a:ext uri="{FF2B5EF4-FFF2-40B4-BE49-F238E27FC236}">
                <a16:creationId xmlns:a16="http://schemas.microsoft.com/office/drawing/2014/main" id="{8A4EF941-F8BC-40C4-AF88-6D372ADF8B89}"/>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FEA0B7-DC00-4DF8-B9E5-9DDE05D30ABF}"/>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2E42D991-2A51-4B35-ADF6-9BB2FB8D6497}"/>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02</a:t>
            </a:r>
          </a:p>
        </p:txBody>
      </p:sp>
      <p:pic>
        <p:nvPicPr>
          <p:cNvPr id="6" name="">
            <a:extLst xmlns:a="http://schemas.openxmlformats.org/drawingml/2006/main">
              <a:ext uri="{FF2B5EF4-FFF2-40B4-BE49-F238E27FC236}">
                <a16:creationId xmlns:a16="http://schemas.microsoft.com/office/drawing/2014/main" id="{5507262A-CAFB-4CF5-8A31-5B754C5DE36F}"/>
              </a:ext>
            </a:extLst>
          </p:cNvPr>
          <p:cNvPicPr>
            <a:picLocks xmlns:a="http://schemas.openxmlformats.org/drawingml/2006/main" noChangeAspect="1"/>
          </p:cNvPicPr>
          <p:nvPr/>
        </p:nvPicPr>
        <p:blipFill>
          <a:blip xmlns:r="http://schemas.openxmlformats.org/officeDocument/2006/relationships" xmlns:a="http://schemas.openxmlformats.org/drawingml/2006/main" r:embed="Rb1d2914b31b0440b"/>
          <a:stretch xmlns:a="http://schemas.openxmlformats.org/drawingml/2006/main"/>
        </p:blipFill>
        <p:spPr>
          <a:xfrm xmlns:a="http://schemas.openxmlformats.org/drawingml/2006/main">
            <a:off x="8020050" y="2066925"/>
            <a:ext cx="3009900" cy="3009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10DA133-5B35-4D4D-9A43-0DEC4399B861}"/>
              </a:ext>
            </a:extLst>
          </p:cNvPr>
          <p:cNvSpPr>
            <a:spLocks xmlns:a="http://schemas.openxmlformats.org/drawingml/2006/main" noGrp="1"/>
          </p:cNvSpPr>
          <p:nvPr/>
        </p:nvSpPr>
        <p:spPr>
          <a:xfrm xmlns:a="http://schemas.openxmlformats.org/drawingml/2006/main">
            <a:off x="609600" y="2057400"/>
            <a:ext cx="700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a:solidFill>
                  <a:srgbClr val="211E1A"/>
                </a:solidFill>
                <a:latin typeface="Menlo"/>
                <a:ea typeface="Menlo"/>
                <a:cs typeface="Menlo"/>
              </a:defRPr>
            </a:defPPr>
          </a:lstStyle>
          <a:p xmlns:a="http://schemas.openxmlformats.org/drawingml/2006/main">
            <a:pPr>
              <a:lnSpc>
                <a:spcPct val="115000"/>
              </a:lnSpc>
              <a:buNone/>
              <a:defRPr sz="2850">
                <a:solidFill>
                  <a:srgbClr val="211E1A"/>
                </a:solidFill>
                <a:latin typeface="Menlo"/>
                <a:ea typeface="Menlo"/>
                <a:cs typeface="Menlo"/>
              </a:defRPr>
            </a:pPr>
            <a:r>
              <a:rPr sz="2850">
                <a:solidFill>
                  <a:srgbClr val="211E1A"/>
                </a:solidFill>
                <a:latin typeface="Menlo"/>
                <a:ea typeface="Menlo"/>
                <a:cs typeface="Menlo"/>
              </a:rPr>
              <a:t>juneadkhan.github.io/</a:t>
            </a:r>
          </a:p>
          <a:p xmlns:a="http://schemas.openxmlformats.org/drawingml/2006/main">
            <a:pPr>
              <a:lnSpc>
                <a:spcPct val="115000"/>
              </a:lnSpc>
              <a:buNone/>
              <a:defRPr sz="2850">
                <a:solidFill>
                  <a:srgbClr val="211E1A"/>
                </a:solidFill>
                <a:latin typeface="Menlo"/>
                <a:ea typeface="Menlo"/>
                <a:cs typeface="Menlo"/>
              </a:defRPr>
            </a:pPr>
            <a:r>
              <a:rPr sz="2850">
                <a:solidFill>
                  <a:srgbClr val="211E1A"/>
                </a:solidFill>
                <a:latin typeface="Menlo"/>
                <a:ea typeface="Menlo"/>
                <a:cs typeface="Menlo"/>
              </a:rPr>
              <a:t>hacknc-beyond-ai-slop/</a:t>
            </a:r>
          </a:p>
        </p:txBody>
      </p:sp>
      <p:sp>
        <p:nvSpPr>
          <p:cNvPr id="8" name="">
            <a:extLst xmlns:a="http://schemas.openxmlformats.org/drawingml/2006/main">
              <a:ext uri="{FF2B5EF4-FFF2-40B4-BE49-F238E27FC236}">
                <a16:creationId xmlns:a16="http://schemas.microsoft.com/office/drawing/2014/main" id="{D3A25959-46F3-4512-8A77-23F40F43F8A0}"/>
              </a:ext>
            </a:extLst>
          </p:cNvPr>
          <p:cNvSpPr>
            <a:spLocks xmlns:a="http://schemas.openxmlformats.org/drawingml/2006/main" noGrp="1"/>
          </p:cNvSpPr>
          <p:nvPr/>
        </p:nvSpPr>
        <p:spPr>
          <a:xfrm xmlns:a="http://schemas.openxmlformats.org/drawingml/2006/main">
            <a:off x="609600" y="36671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No setup for the studio</a:t>
            </a:r>
          </a:p>
        </p:txBody>
      </p:sp>
      <p:sp>
        <p:nvSpPr>
          <p:cNvPr id="9" name="">
            <a:extLst xmlns:a="http://schemas.openxmlformats.org/drawingml/2006/main">
              <a:ext uri="{FF2B5EF4-FFF2-40B4-BE49-F238E27FC236}">
                <a16:creationId xmlns:a16="http://schemas.microsoft.com/office/drawing/2014/main" id="{FD38D3B9-1794-4CE2-8094-C0AE174E0D9F}"/>
              </a:ext>
            </a:extLst>
          </p:cNvPr>
          <p:cNvSpPr>
            <a:spLocks xmlns:a="http://schemas.openxmlformats.org/drawingml/2006/main" noGrp="1"/>
          </p:cNvSpPr>
          <p:nvPr/>
        </p:nvSpPr>
        <p:spPr>
          <a:xfrm xmlns:a="http://schemas.openxmlformats.org/drawingml/2006/main">
            <a:off x="609600" y="4124325"/>
            <a:ext cx="695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Browser + your AI chat. Nothing to install.</a:t>
            </a:r>
          </a:p>
        </p:txBody>
      </p:sp>
      <p:sp>
        <p:nvSpPr>
          <p:cNvPr id="10" name="">
            <a:extLst xmlns:a="http://schemas.openxmlformats.org/drawingml/2006/main">
              <a:ext uri="{FF2B5EF4-FFF2-40B4-BE49-F238E27FC236}">
                <a16:creationId xmlns:a16="http://schemas.microsoft.com/office/drawing/2014/main" id="{CDD50337-C995-43F9-85F5-F8400C469683}"/>
              </a:ext>
            </a:extLst>
          </p:cNvPr>
          <p:cNvSpPr>
            <a:spLocks xmlns:a="http://schemas.openxmlformats.org/drawingml/2006/main" noGrp="1"/>
          </p:cNvSpPr>
          <p:nvPr/>
        </p:nvSpPr>
        <p:spPr>
          <a:xfrm xmlns:a="http://schemas.openxmlformats.org/drawingml/2006/main">
            <a:off x="609600" y="5010150"/>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a:solidFill>
                  <a:srgbClr val="625D55"/>
                </a:solidFill>
                <a:latin typeface="Lexend"/>
                <a:ea typeface="Lexend"/>
                <a:cs typeface="Lexend"/>
              </a:defRPr>
            </a:defPPr>
          </a:lstStyle>
          <a:p xmlns:a="http://schemas.openxmlformats.org/drawingml/2006/main">
            <a:pPr>
              <a:lnSpc>
                <a:spcPct val="115000"/>
              </a:lnSpc>
              <a:buNone/>
              <a:defRPr sz="1950">
                <a:solidFill>
                  <a:srgbClr val="625D55"/>
                </a:solidFill>
                <a:latin typeface="Lexend"/>
                <a:ea typeface="Lexend"/>
                <a:cs typeface="Lexend"/>
              </a:defRPr>
            </a:pPr>
            <a:r>
              <a:rPr sz="1950">
                <a:solidFill>
                  <a:srgbClr val="625D55"/>
                </a:solidFill>
                <a:latin typeface="Lexend"/>
                <a:ea typeface="Lexend"/>
                <a:cs typeface="Lexend"/>
              </a:rPr>
              <a:t>No AI access? Use a reference</a:t>
            </a:r>
          </a:p>
          <a:p xmlns:a="http://schemas.openxmlformats.org/drawingml/2006/main">
            <a:pPr>
              <a:lnSpc>
                <a:spcPct val="115000"/>
              </a:lnSpc>
              <a:buNone/>
              <a:defRPr sz="1950">
                <a:solidFill>
                  <a:srgbClr val="625D55"/>
                </a:solidFill>
                <a:latin typeface="Lexend"/>
                <a:ea typeface="Lexend"/>
                <a:cs typeface="Lexend"/>
              </a:defRPr>
            </a:pPr>
            <a:r>
              <a:rPr sz="1950">
                <a:solidFill>
                  <a:srgbClr val="625D55"/>
                </a:solidFill>
                <a:latin typeface="Lexend"/>
                <a:ea typeface="Lexend"/>
                <a:cs typeface="Lexend"/>
              </a:rPr>
              <a:t>and change its tokens.</a:t>
            </a:r>
          </a:p>
        </p:txBody>
      </p:sp>
    </p:spTree>
    <p:extLst>
      <p:ext uri="{BB962C8B-B14F-4D97-AF65-F5344CB8AC3E}">
        <p14:creationId xmlns:p14="http://schemas.microsoft.com/office/powerpoint/2010/main" val="1528138216"/>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A1C641-F859-4806-BE1C-ADC24FA5AD80}"/>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30-SECOND TASK</a:t>
            </a:r>
          </a:p>
        </p:txBody>
      </p:sp>
      <p:sp>
        <p:nvSpPr>
          <p:cNvPr id="2" name="">
            <a:extLst xmlns:a="http://schemas.openxmlformats.org/drawingml/2006/main">
              <a:ext uri="{FF2B5EF4-FFF2-40B4-BE49-F238E27FC236}">
                <a16:creationId xmlns:a16="http://schemas.microsoft.com/office/drawing/2014/main" id="{3FB2FA94-2297-4465-9636-017F4D51CFEC}"/>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First, try the user’s task.</a:t>
            </a:r>
          </a:p>
        </p:txBody>
      </p:sp>
      <p:sp>
        <p:nvSpPr>
          <p:cNvPr id="3" name="">
            <a:extLst xmlns:a="http://schemas.openxmlformats.org/drawingml/2006/main">
              <a:ext uri="{FF2B5EF4-FFF2-40B4-BE49-F238E27FC236}">
                <a16:creationId xmlns:a16="http://schemas.microsoft.com/office/drawing/2014/main" id="{ABDB650F-8854-43C1-8CE8-C88B920F2222}"/>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EF8EAF-35F4-4C4B-914A-D0E249A593B1}"/>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95DE39F1-9A07-4821-80D6-FF13641588CF}"/>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03</a:t>
            </a:r>
          </a:p>
        </p:txBody>
      </p:sp>
      <p:pic>
        <p:nvPicPr>
          <p:cNvPr id="6" name="">
            <a:extLst xmlns:a="http://schemas.openxmlformats.org/drawingml/2006/main">
              <a:ext uri="{FF2B5EF4-FFF2-40B4-BE49-F238E27FC236}">
                <a16:creationId xmlns:a16="http://schemas.microsoft.com/office/drawing/2014/main" id="{3BD71B73-FB37-411F-A88A-3CBACC7E957F}"/>
              </a:ext>
            </a:extLst>
          </p:cNvPr>
          <p:cNvPicPr>
            <a:picLocks xmlns:a="http://schemas.openxmlformats.org/drawingml/2006/main" noChangeAspect="1"/>
          </p:cNvPicPr>
          <p:nvPr/>
        </p:nvPicPr>
        <p:blipFill>
          <a:blip xmlns:r="http://schemas.openxmlformats.org/officeDocument/2006/relationships" xmlns:a="http://schemas.openxmlformats.org/drawingml/2006/main" r:embed="R00418d5d885c4e35"/>
          <a:stretch xmlns:a="http://schemas.openxmlformats.org/drawingml/2006/main"/>
        </p:blipFill>
        <p:spPr>
          <a:xfrm xmlns:a="http://schemas.openxmlformats.org/drawingml/2006/main">
            <a:off x="2149523" y="1924050"/>
            <a:ext cx="3873404"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816006A-99A8-407A-8206-F48968763F98}"/>
              </a:ext>
            </a:extLst>
          </p:cNvPr>
          <p:cNvSpPr>
            <a:spLocks xmlns:a="http://schemas.openxmlformats.org/drawingml/2006/main" noGrp="1"/>
          </p:cNvSpPr>
          <p:nvPr/>
        </p:nvSpPr>
        <p:spPr>
          <a:xfrm xmlns:a="http://schemas.openxmlformats.org/drawingml/2006/main">
            <a:off x="8020050" y="21812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a:solidFill>
                  <a:srgbClr val="211E1A"/>
                </a:solidFill>
                <a:latin typeface="Georgia"/>
                <a:ea typeface="Georgia"/>
                <a:cs typeface="Georgia"/>
              </a:defRPr>
            </a:defPPr>
          </a:lstStyle>
          <a:p xmlns:a="http://schemas.openxmlformats.org/drawingml/2006/main">
            <a:pPr>
              <a:lnSpc>
                <a:spcPct val="115000"/>
              </a:lnSpc>
              <a:buNone/>
              <a:defRPr sz="2775">
                <a:solidFill>
                  <a:srgbClr val="211E1A"/>
                </a:solidFill>
                <a:latin typeface="Georgia"/>
                <a:ea typeface="Georgia"/>
                <a:cs typeface="Georgia"/>
              </a:defRPr>
            </a:pPr>
            <a:r>
              <a:rPr sz="2775">
                <a:solidFill>
                  <a:srgbClr val="211E1A"/>
                </a:solidFill>
                <a:latin typeface="Georgia"/>
                <a:ea typeface="Georgia"/>
                <a:cs typeface="Georgia"/>
              </a:rPr>
              <a:t>Which bills are due</a:t>
            </a:r>
          </a:p>
          <a:p xmlns:a="http://schemas.openxmlformats.org/drawingml/2006/main">
            <a:pPr>
              <a:lnSpc>
                <a:spcPct val="115000"/>
              </a:lnSpc>
              <a:buNone/>
              <a:defRPr sz="2775">
                <a:solidFill>
                  <a:srgbClr val="211E1A"/>
                </a:solidFill>
                <a:latin typeface="Georgia"/>
                <a:ea typeface="Georgia"/>
                <a:cs typeface="Georgia"/>
              </a:defRPr>
            </a:pPr>
            <a:r>
              <a:rPr sz="2775">
                <a:solidFill>
                  <a:srgbClr val="211E1A"/>
                </a:solidFill>
                <a:latin typeface="Georgia"/>
                <a:ea typeface="Georgia"/>
                <a:cs typeface="Georgia"/>
              </a:rPr>
              <a:t>before Friday?</a:t>
            </a:r>
          </a:p>
        </p:txBody>
      </p:sp>
      <p:sp>
        <p:nvSpPr>
          <p:cNvPr id="8" name="">
            <a:extLst xmlns:a="http://schemas.openxmlformats.org/drawingml/2006/main">
              <a:ext uri="{FF2B5EF4-FFF2-40B4-BE49-F238E27FC236}">
                <a16:creationId xmlns:a16="http://schemas.microsoft.com/office/drawing/2014/main" id="{41F837F9-F99D-4654-B056-6A4A517564DC}"/>
              </a:ext>
            </a:extLst>
          </p:cNvPr>
          <p:cNvSpPr>
            <a:spLocks xmlns:a="http://schemas.openxmlformats.org/drawingml/2006/main" noGrp="1"/>
          </p:cNvSpPr>
          <p:nvPr/>
        </p:nvSpPr>
        <p:spPr>
          <a:xfrm xmlns:a="http://schemas.openxmlformats.org/drawingml/2006/main">
            <a:off x="8020050" y="3771900"/>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625D55"/>
                </a:solidFill>
                <a:latin typeface="Lexend"/>
                <a:ea typeface="Lexend"/>
                <a:cs typeface="Lexend"/>
              </a:defRPr>
            </a:defPPr>
          </a:lstStyle>
          <a:p xmlns:a="http://schemas.openxmlformats.org/drawingml/2006/main">
            <a:pPr>
              <a:lnSpc>
                <a:spcPct val="115000"/>
              </a:lnSpc>
              <a:buNone/>
              <a:defRPr sz="2175">
                <a:solidFill>
                  <a:srgbClr val="625D55"/>
                </a:solidFill>
                <a:latin typeface="Lexend"/>
                <a:ea typeface="Lexend"/>
                <a:cs typeface="Lexend"/>
              </a:defRPr>
            </a:pPr>
            <a:r>
              <a:rPr sz="2175">
                <a:solidFill>
                  <a:srgbClr val="625D55"/>
                </a:solidFill>
                <a:latin typeface="Lexend"/>
                <a:ea typeface="Lexend"/>
                <a:cs typeface="Lexend"/>
              </a:rPr>
              <a:t>Find the dates</a:t>
            </a:r>
          </a:p>
          <a:p xmlns:a="http://schemas.openxmlformats.org/drawingml/2006/main">
            <a:pPr>
              <a:lnSpc>
                <a:spcPct val="115000"/>
              </a:lnSpc>
              <a:buNone/>
              <a:defRPr sz="2175">
                <a:solidFill>
                  <a:srgbClr val="625D55"/>
                </a:solidFill>
                <a:latin typeface="Lexend"/>
                <a:ea typeface="Lexend"/>
                <a:cs typeface="Lexend"/>
              </a:defRPr>
            </a:pPr>
            <a:r>
              <a:rPr sz="2175">
                <a:solidFill>
                  <a:srgbClr val="625D55"/>
                </a:solidFill>
                <a:latin typeface="Lexend"/>
                <a:ea typeface="Lexend"/>
                <a:cs typeface="Lexend"/>
              </a:rPr>
              <a:t>and amounts.</a:t>
            </a:r>
          </a:p>
        </p:txBody>
      </p:sp>
      <p:sp>
        <p:nvSpPr>
          <p:cNvPr id="9" name="">
            <a:extLst xmlns:a="http://schemas.openxmlformats.org/drawingml/2006/main">
              <a:ext uri="{FF2B5EF4-FFF2-40B4-BE49-F238E27FC236}">
                <a16:creationId xmlns:a16="http://schemas.microsoft.com/office/drawing/2014/main" id="{82548EAE-A98C-414A-B87A-F4E608C318EB}"/>
              </a:ext>
            </a:extLst>
          </p:cNvPr>
          <p:cNvSpPr>
            <a:spLocks xmlns:a="http://schemas.openxmlformats.org/drawingml/2006/main" noGrp="1"/>
          </p:cNvSpPr>
          <p:nvPr/>
        </p:nvSpPr>
        <p:spPr>
          <a:xfrm xmlns:a="http://schemas.openxmlformats.org/drawingml/2006/main">
            <a:off x="8020050" y="52197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a:solidFill>
                  <a:srgbClr val="211E1A"/>
                </a:solidFill>
                <a:latin typeface="Lexend"/>
                <a:ea typeface="Lexend"/>
                <a:cs typeface="Lexend"/>
              </a:defRPr>
            </a:defPPr>
          </a:lstStyle>
          <a:p xmlns:a="http://schemas.openxmlformats.org/drawingml/2006/main">
            <a:pPr>
              <a:lnSpc>
                <a:spcPct val="115000"/>
              </a:lnSpc>
              <a:buNone/>
              <a:defRPr sz="1725">
                <a:solidFill>
                  <a:srgbClr val="211E1A"/>
                </a:solidFill>
                <a:latin typeface="Lexend"/>
                <a:ea typeface="Lexend"/>
                <a:cs typeface="Lexend"/>
              </a:defRPr>
            </a:pPr>
            <a:r>
              <a:rPr sz="1725">
                <a:solidFill>
                  <a:srgbClr val="211E1A"/>
                </a:solidFill>
                <a:latin typeface="Lexend"/>
                <a:ea typeface="Lexend"/>
                <a:cs typeface="Lexend"/>
              </a:rPr>
              <a:t>Same task for every style.</a:t>
            </a:r>
          </a:p>
        </p:txBody>
      </p:sp>
    </p:spTree>
    <p:extLst>
      <p:ext uri="{BB962C8B-B14F-4D97-AF65-F5344CB8AC3E}">
        <p14:creationId xmlns:p14="http://schemas.microsoft.com/office/powerpoint/2010/main" val="1863535443"/>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F8AFD3-32DB-4BC7-97E2-BD79733F6597}"/>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CRITIQUE THE INTERFACE</a:t>
            </a:r>
          </a:p>
        </p:txBody>
      </p:sp>
      <p:sp>
        <p:nvSpPr>
          <p:cNvPr id="2" name="">
            <a:extLst xmlns:a="http://schemas.openxmlformats.org/drawingml/2006/main">
              <a:ext uri="{FF2B5EF4-FFF2-40B4-BE49-F238E27FC236}">
                <a16:creationId xmlns:a16="http://schemas.microsoft.com/office/drawing/2014/main" id="{845F641D-743A-4F65-A4A1-4D173FAF130B}"/>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Name the failure you can observe.</a:t>
            </a:r>
          </a:p>
        </p:txBody>
      </p:sp>
      <p:sp>
        <p:nvSpPr>
          <p:cNvPr id="3" name="">
            <a:extLst xmlns:a="http://schemas.openxmlformats.org/drawingml/2006/main">
              <a:ext uri="{FF2B5EF4-FFF2-40B4-BE49-F238E27FC236}">
                <a16:creationId xmlns:a16="http://schemas.microsoft.com/office/drawing/2014/main" id="{788E8B2C-B4DC-4871-87F1-ADA4BFDBB09A}"/>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DC03B7-8222-450C-8228-552D8867EFAA}"/>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DC5D4356-620C-4D1B-BE5C-EAE2DB2E0DE9}"/>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04</a:t>
            </a:r>
          </a:p>
        </p:txBody>
      </p:sp>
      <p:pic>
        <p:nvPicPr>
          <p:cNvPr id="6" name="">
            <a:extLst xmlns:a="http://schemas.openxmlformats.org/drawingml/2006/main">
              <a:ext uri="{FF2B5EF4-FFF2-40B4-BE49-F238E27FC236}">
                <a16:creationId xmlns:a16="http://schemas.microsoft.com/office/drawing/2014/main" id="{AE34F253-EB21-40C8-86F0-FD5F2186B301}"/>
              </a:ext>
            </a:extLst>
          </p:cNvPr>
          <p:cNvPicPr>
            <a:picLocks xmlns:a="http://schemas.openxmlformats.org/drawingml/2006/main" noChangeAspect="1"/>
          </p:cNvPicPr>
          <p:nvPr/>
        </p:nvPicPr>
        <p:blipFill>
          <a:blip xmlns:r="http://schemas.openxmlformats.org/officeDocument/2006/relationships" xmlns:a="http://schemas.openxmlformats.org/drawingml/2006/main" r:embed="Rd860a4e5dbcb487d"/>
          <a:stretch xmlns:a="http://schemas.openxmlformats.org/drawingml/2006/main"/>
        </p:blipFill>
        <p:spPr>
          <a:xfrm xmlns:a="http://schemas.openxmlformats.org/drawingml/2006/main">
            <a:off x="8708670" y="1838325"/>
            <a:ext cx="2194635" cy="42767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FD1C69F-1DF2-4FC5-935C-6EDEC8115184}"/>
              </a:ext>
            </a:extLst>
          </p:cNvPr>
          <p:cNvSpPr>
            <a:spLocks xmlns:a="http://schemas.openxmlformats.org/drawingml/2006/main" noGrp="1"/>
          </p:cNvSpPr>
          <p:nvPr/>
        </p:nvSpPr>
        <p:spPr>
          <a:xfrm xmlns:a="http://schemas.openxmlformats.org/drawingml/2006/main">
            <a:off x="609600" y="2019300"/>
            <a:ext cx="747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Hierarchy</a:t>
            </a:r>
          </a:p>
        </p:txBody>
      </p:sp>
      <p:sp>
        <p:nvSpPr>
          <p:cNvPr id="8" name="">
            <a:extLst xmlns:a="http://schemas.openxmlformats.org/drawingml/2006/main">
              <a:ext uri="{FF2B5EF4-FFF2-40B4-BE49-F238E27FC236}">
                <a16:creationId xmlns:a16="http://schemas.microsoft.com/office/drawing/2014/main" id="{DFAADA52-5A1E-48C9-9B39-4E95063CBA7C}"/>
              </a:ext>
            </a:extLst>
          </p:cNvPr>
          <p:cNvSpPr>
            <a:spLocks xmlns:a="http://schemas.openxmlformats.org/drawingml/2006/main" noGrp="1"/>
          </p:cNvSpPr>
          <p:nvPr/>
        </p:nvSpPr>
        <p:spPr>
          <a:xfrm xmlns:a="http://schemas.openxmlformats.org/drawingml/2006/main">
            <a:off x="609600" y="2476500"/>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The secondary metrics get attention before bill dates.</a:t>
            </a:r>
          </a:p>
        </p:txBody>
      </p:sp>
      <p:sp>
        <p:nvSpPr>
          <p:cNvPr id="9" name="">
            <a:extLst xmlns:a="http://schemas.openxmlformats.org/drawingml/2006/main">
              <a:ext uri="{FF2B5EF4-FFF2-40B4-BE49-F238E27FC236}">
                <a16:creationId xmlns:a16="http://schemas.microsoft.com/office/drawing/2014/main" id="{A9525DAE-4617-46B9-9C9C-E6131C249268}"/>
              </a:ext>
            </a:extLst>
          </p:cNvPr>
          <p:cNvSpPr>
            <a:spLocks xmlns:a="http://schemas.openxmlformats.org/drawingml/2006/main" noGrp="1"/>
          </p:cNvSpPr>
          <p:nvPr/>
        </p:nvSpPr>
        <p:spPr>
          <a:xfrm xmlns:a="http://schemas.openxmlformats.org/drawingml/2006/main">
            <a:off x="609600" y="3419475"/>
            <a:ext cx="747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Component rules</a:t>
            </a:r>
          </a:p>
        </p:txBody>
      </p:sp>
      <p:sp>
        <p:nvSpPr>
          <p:cNvPr id="10" name="">
            <a:extLst xmlns:a="http://schemas.openxmlformats.org/drawingml/2006/main">
              <a:ext uri="{FF2B5EF4-FFF2-40B4-BE49-F238E27FC236}">
                <a16:creationId xmlns:a16="http://schemas.microsoft.com/office/drawing/2014/main" id="{28D2EF79-7ED3-4F73-B482-21E12C24F55E}"/>
              </a:ext>
            </a:extLst>
          </p:cNvPr>
          <p:cNvSpPr>
            <a:spLocks xmlns:a="http://schemas.openxmlformats.org/drawingml/2006/main" noGrp="1"/>
          </p:cNvSpPr>
          <p:nvPr/>
        </p:nvSpPr>
        <p:spPr>
          <a:xfrm xmlns:a="http://schemas.openxmlformats.org/drawingml/2006/main">
            <a:off x="609600" y="387667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Three filters look like three unrelated controls.</a:t>
            </a:r>
          </a:p>
        </p:txBody>
      </p:sp>
      <p:sp>
        <p:nvSpPr>
          <p:cNvPr id="11" name="">
            <a:extLst xmlns:a="http://schemas.openxmlformats.org/drawingml/2006/main">
              <a:ext uri="{FF2B5EF4-FFF2-40B4-BE49-F238E27FC236}">
                <a16:creationId xmlns:a16="http://schemas.microsoft.com/office/drawing/2014/main" id="{7ED2D2FF-9BE3-40F6-A01C-6F157BEDD6ED}"/>
              </a:ext>
            </a:extLst>
          </p:cNvPr>
          <p:cNvSpPr>
            <a:spLocks xmlns:a="http://schemas.openxmlformats.org/drawingml/2006/main" noGrp="1"/>
          </p:cNvSpPr>
          <p:nvPr/>
        </p:nvSpPr>
        <p:spPr>
          <a:xfrm xmlns:a="http://schemas.openxmlformats.org/drawingml/2006/main">
            <a:off x="609600" y="4819650"/>
            <a:ext cx="747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Small screens</a:t>
            </a:r>
          </a:p>
        </p:txBody>
      </p:sp>
      <p:sp>
        <p:nvSpPr>
          <p:cNvPr id="12" name="">
            <a:extLst xmlns:a="http://schemas.openxmlformats.org/drawingml/2006/main">
              <a:ext uri="{FF2B5EF4-FFF2-40B4-BE49-F238E27FC236}">
                <a16:creationId xmlns:a16="http://schemas.microsoft.com/office/drawing/2014/main" id="{4DB5241C-49DA-4D6B-9E35-F11337DEF6A7}"/>
              </a:ext>
            </a:extLst>
          </p:cNvPr>
          <p:cNvSpPr>
            <a:spLocks xmlns:a="http://schemas.openxmlformats.org/drawingml/2006/main" noGrp="1"/>
          </p:cNvSpPr>
          <p:nvPr/>
        </p:nvSpPr>
        <p:spPr>
          <a:xfrm xmlns:a="http://schemas.openxmlformats.org/drawingml/2006/main">
            <a:off x="609600" y="5276850"/>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The important list moves below secondary content.</a:t>
            </a:r>
          </a:p>
        </p:txBody>
      </p:sp>
    </p:spTree>
    <p:extLst>
      <p:ext uri="{BB962C8B-B14F-4D97-AF65-F5344CB8AC3E}">
        <p14:creationId xmlns:p14="http://schemas.microsoft.com/office/powerpoint/2010/main" val="699910971"/>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579A4E-30D1-4AE6-A098-190194D4694B}"/>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THE SYSTEM</a:t>
            </a:r>
          </a:p>
        </p:txBody>
      </p:sp>
      <p:sp>
        <p:nvSpPr>
          <p:cNvPr id="2" name="">
            <a:extLst xmlns:a="http://schemas.openxmlformats.org/drawingml/2006/main">
              <a:ext uri="{FF2B5EF4-FFF2-40B4-BE49-F238E27FC236}">
                <a16:creationId xmlns:a16="http://schemas.microsoft.com/office/drawing/2014/main" id="{A7842C0E-4FD4-4DC0-A1F5-D3E2DE4A3A33}"/>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Give AI decisions it can reuse.</a:t>
            </a:r>
          </a:p>
        </p:txBody>
      </p:sp>
      <p:sp>
        <p:nvSpPr>
          <p:cNvPr id="3" name="">
            <a:extLst xmlns:a="http://schemas.openxmlformats.org/drawingml/2006/main">
              <a:ext uri="{FF2B5EF4-FFF2-40B4-BE49-F238E27FC236}">
                <a16:creationId xmlns:a16="http://schemas.microsoft.com/office/drawing/2014/main" id="{8582056E-C249-4B08-A173-FACC54041019}"/>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7DDE94-D6C7-4956-A121-84901955FD0A}"/>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6DD86DBF-F619-4AD3-B1B5-7FD58665D78D}"/>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05</a:t>
            </a:r>
          </a:p>
        </p:txBody>
      </p:sp>
      <p:sp>
        <p:nvSpPr>
          <p:cNvPr id="6" name="">
            <a:extLst xmlns:a="http://schemas.openxmlformats.org/drawingml/2006/main">
              <a:ext uri="{FF2B5EF4-FFF2-40B4-BE49-F238E27FC236}">
                <a16:creationId xmlns:a16="http://schemas.microsoft.com/office/drawing/2014/main" id="{9DB4A790-CB2D-41DD-AE15-1F7D75461B3B}"/>
              </a:ext>
            </a:extLst>
          </p:cNvPr>
          <p:cNvSpPr>
            <a:spLocks xmlns:a="http://schemas.openxmlformats.org/drawingml/2006/main" noGrp="1"/>
          </p:cNvSpPr>
          <p:nvPr/>
        </p:nvSpPr>
        <p:spPr>
          <a:xfrm xmlns:a="http://schemas.openxmlformats.org/drawingml/2006/main">
            <a:off x="609600" y="21907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01</a:t>
            </a:r>
          </a:p>
        </p:txBody>
      </p:sp>
      <p:sp>
        <p:nvSpPr>
          <p:cNvPr id="7" name="">
            <a:extLst xmlns:a="http://schemas.openxmlformats.org/drawingml/2006/main">
              <a:ext uri="{FF2B5EF4-FFF2-40B4-BE49-F238E27FC236}">
                <a16:creationId xmlns:a16="http://schemas.microsoft.com/office/drawing/2014/main" id="{A4C1A6E4-6BB9-41F2-80A9-468C21A6AE2C}"/>
              </a:ext>
            </a:extLst>
          </p:cNvPr>
          <p:cNvSpPr>
            <a:spLocks xmlns:a="http://schemas.openxmlformats.org/drawingml/2006/main" noGrp="1"/>
          </p:cNvSpPr>
          <p:nvPr/>
        </p:nvSpPr>
        <p:spPr>
          <a:xfrm xmlns:a="http://schemas.openxmlformats.org/drawingml/2006/main">
            <a:off x="609600" y="2809875"/>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Purpose</a:t>
            </a:r>
          </a:p>
        </p:txBody>
      </p:sp>
      <p:sp>
        <p:nvSpPr>
          <p:cNvPr id="8" name="">
            <a:extLst xmlns:a="http://schemas.openxmlformats.org/drawingml/2006/main">
              <a:ext uri="{FF2B5EF4-FFF2-40B4-BE49-F238E27FC236}">
                <a16:creationId xmlns:a16="http://schemas.microsoft.com/office/drawing/2014/main" id="{C90F3F1B-A3B0-4E12-A325-FE9A3F141133}"/>
              </a:ext>
            </a:extLst>
          </p:cNvPr>
          <p:cNvSpPr>
            <a:spLocks xmlns:a="http://schemas.openxmlformats.org/drawingml/2006/main" noGrp="1"/>
          </p:cNvSpPr>
          <p:nvPr/>
        </p:nvSpPr>
        <p:spPr>
          <a:xfrm xmlns:a="http://schemas.openxmlformats.org/drawingml/2006/main">
            <a:off x="609600" y="368617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a:solidFill>
                  <a:srgbClr val="211E1A"/>
                </a:solidFill>
                <a:latin typeface="Lexend"/>
                <a:ea typeface="Lexend"/>
                <a:cs typeface="Lexend"/>
              </a:defRPr>
            </a:defPPr>
          </a:lstStyle>
          <a:p xmlns:a="http://schemas.openxmlformats.org/drawingml/2006/main">
            <a:pPr>
              <a:lnSpc>
                <a:spcPct val="115000"/>
              </a:lnSpc>
              <a:buNone/>
              <a:defRPr sz="2100">
                <a:solidFill>
                  <a:srgbClr val="211E1A"/>
                </a:solidFill>
                <a:latin typeface="Lexend"/>
                <a:ea typeface="Lexend"/>
                <a:cs typeface="Lexend"/>
              </a:defRPr>
            </a:pPr>
            <a:r>
              <a:rPr sz="2100">
                <a:solidFill>
                  <a:srgbClr val="211E1A"/>
                </a:solidFill>
                <a:latin typeface="Lexend"/>
                <a:ea typeface="Lexend"/>
                <a:cs typeface="Lexend"/>
              </a:rPr>
              <a:t>Find bills before payday.</a:t>
            </a:r>
          </a:p>
        </p:txBody>
      </p:sp>
      <p:sp>
        <p:nvSpPr>
          <p:cNvPr id="9" name="">
            <a:extLst xmlns:a="http://schemas.openxmlformats.org/drawingml/2006/main">
              <a:ext uri="{FF2B5EF4-FFF2-40B4-BE49-F238E27FC236}">
                <a16:creationId xmlns:a16="http://schemas.microsoft.com/office/drawing/2014/main" id="{CAF5B476-6A62-49DD-BBC6-974E4835C4A1}"/>
              </a:ext>
            </a:extLst>
          </p:cNvPr>
          <p:cNvSpPr>
            <a:spLocks xmlns:a="http://schemas.openxmlformats.org/drawingml/2006/main" noGrp="1"/>
          </p:cNvSpPr>
          <p:nvPr/>
        </p:nvSpPr>
        <p:spPr>
          <a:xfrm xmlns:a="http://schemas.openxmlformats.org/drawingml/2006/main">
            <a:off x="3390900" y="21907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56E1DE11-D4E2-4395-9B76-BE3BB81C77D8}"/>
              </a:ext>
            </a:extLst>
          </p:cNvPr>
          <p:cNvSpPr>
            <a:spLocks xmlns:a="http://schemas.openxmlformats.org/drawingml/2006/main" noGrp="1"/>
          </p:cNvSpPr>
          <p:nvPr/>
        </p:nvSpPr>
        <p:spPr>
          <a:xfrm xmlns:a="http://schemas.openxmlformats.org/drawingml/2006/main">
            <a:off x="3390900" y="2809875"/>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Tokens</a:t>
            </a:r>
          </a:p>
        </p:txBody>
      </p:sp>
      <p:sp>
        <p:nvSpPr>
          <p:cNvPr id="11" name="">
            <a:extLst xmlns:a="http://schemas.openxmlformats.org/drawingml/2006/main">
              <a:ext uri="{FF2B5EF4-FFF2-40B4-BE49-F238E27FC236}">
                <a16:creationId xmlns:a16="http://schemas.microsoft.com/office/drawing/2014/main" id="{A65F3F73-BDF5-459F-9605-B415F25ED93B}"/>
              </a:ext>
            </a:extLst>
          </p:cNvPr>
          <p:cNvSpPr>
            <a:spLocks xmlns:a="http://schemas.openxmlformats.org/drawingml/2006/main" noGrp="1"/>
          </p:cNvSpPr>
          <p:nvPr/>
        </p:nvSpPr>
        <p:spPr>
          <a:xfrm xmlns:a="http://schemas.openxmlformats.org/drawingml/2006/main">
            <a:off x="3390900" y="368617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a:solidFill>
                  <a:srgbClr val="211E1A"/>
                </a:solidFill>
                <a:latin typeface="Lexend"/>
                <a:ea typeface="Lexend"/>
                <a:cs typeface="Lexend"/>
              </a:defRPr>
            </a:defPPr>
          </a:lstStyle>
          <a:p xmlns:a="http://schemas.openxmlformats.org/drawingml/2006/main">
            <a:pPr>
              <a:lnSpc>
                <a:spcPct val="115000"/>
              </a:lnSpc>
              <a:buNone/>
              <a:defRPr sz="2100">
                <a:solidFill>
                  <a:srgbClr val="211E1A"/>
                </a:solidFill>
                <a:latin typeface="Lexend"/>
                <a:ea typeface="Lexend"/>
                <a:cs typeface="Lexend"/>
              </a:defRPr>
            </a:pPr>
            <a:r>
              <a:rPr sz="2100">
                <a:solidFill>
                  <a:srgbClr val="211E1A"/>
                </a:solidFill>
                <a:latin typeface="Lexend"/>
                <a:ea typeface="Lexend"/>
                <a:cs typeface="Lexend"/>
              </a:rPr>
              <a:t>Name roles, then assign values.</a:t>
            </a:r>
          </a:p>
        </p:txBody>
      </p:sp>
      <p:sp>
        <p:nvSpPr>
          <p:cNvPr id="12" name="">
            <a:extLst xmlns:a="http://schemas.openxmlformats.org/drawingml/2006/main">
              <a:ext uri="{FF2B5EF4-FFF2-40B4-BE49-F238E27FC236}">
                <a16:creationId xmlns:a16="http://schemas.microsoft.com/office/drawing/2014/main" id="{79E6FDC4-EBEA-4A57-A968-D922F6A863BD}"/>
              </a:ext>
            </a:extLst>
          </p:cNvPr>
          <p:cNvSpPr>
            <a:spLocks xmlns:a="http://schemas.openxmlformats.org/drawingml/2006/main" noGrp="1"/>
          </p:cNvSpPr>
          <p:nvPr/>
        </p:nvSpPr>
        <p:spPr>
          <a:xfrm xmlns:a="http://schemas.openxmlformats.org/drawingml/2006/main">
            <a:off x="6172200" y="21907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03</a:t>
            </a:r>
          </a:p>
        </p:txBody>
      </p:sp>
      <p:sp>
        <p:nvSpPr>
          <p:cNvPr id="13" name="">
            <a:extLst xmlns:a="http://schemas.openxmlformats.org/drawingml/2006/main">
              <a:ext uri="{FF2B5EF4-FFF2-40B4-BE49-F238E27FC236}">
                <a16:creationId xmlns:a16="http://schemas.microsoft.com/office/drawing/2014/main" id="{47F09E2D-D108-4F6D-903D-7693FCCCB1E2}"/>
              </a:ext>
            </a:extLst>
          </p:cNvPr>
          <p:cNvSpPr>
            <a:spLocks xmlns:a="http://schemas.openxmlformats.org/drawingml/2006/main" noGrp="1"/>
          </p:cNvSpPr>
          <p:nvPr/>
        </p:nvSpPr>
        <p:spPr>
          <a:xfrm xmlns:a="http://schemas.openxmlformats.org/drawingml/2006/main">
            <a:off x="6172200" y="2809875"/>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Components</a:t>
            </a:r>
          </a:p>
        </p:txBody>
      </p:sp>
      <p:sp>
        <p:nvSpPr>
          <p:cNvPr id="14" name="">
            <a:extLst xmlns:a="http://schemas.openxmlformats.org/drawingml/2006/main">
              <a:ext uri="{FF2B5EF4-FFF2-40B4-BE49-F238E27FC236}">
                <a16:creationId xmlns:a16="http://schemas.microsoft.com/office/drawing/2014/main" id="{C5764132-734F-43A2-B01A-260AE8800822}"/>
              </a:ext>
            </a:extLst>
          </p:cNvPr>
          <p:cNvSpPr>
            <a:spLocks xmlns:a="http://schemas.openxmlformats.org/drawingml/2006/main" noGrp="1"/>
          </p:cNvSpPr>
          <p:nvPr/>
        </p:nvSpPr>
        <p:spPr>
          <a:xfrm xmlns:a="http://schemas.openxmlformats.org/drawingml/2006/main">
            <a:off x="6172200" y="368617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a:solidFill>
                  <a:srgbClr val="211E1A"/>
                </a:solidFill>
                <a:latin typeface="Lexend"/>
                <a:ea typeface="Lexend"/>
                <a:cs typeface="Lexend"/>
              </a:defRPr>
            </a:defPPr>
          </a:lstStyle>
          <a:p xmlns:a="http://schemas.openxmlformats.org/drawingml/2006/main">
            <a:pPr>
              <a:lnSpc>
                <a:spcPct val="115000"/>
              </a:lnSpc>
              <a:buNone/>
              <a:defRPr sz="2100">
                <a:solidFill>
                  <a:srgbClr val="211E1A"/>
                </a:solidFill>
                <a:latin typeface="Lexend"/>
                <a:ea typeface="Lexend"/>
                <a:cs typeface="Lexend"/>
              </a:defRPr>
            </a:pPr>
            <a:r>
              <a:rPr sz="2100">
                <a:solidFill>
                  <a:srgbClr val="211E1A"/>
                </a:solidFill>
                <a:latin typeface="Lexend"/>
                <a:ea typeface="Lexend"/>
                <a:cs typeface="Lexend"/>
              </a:rPr>
              <a:t>Reuse rows, filters and panels.</a:t>
            </a:r>
          </a:p>
        </p:txBody>
      </p:sp>
      <p:sp>
        <p:nvSpPr>
          <p:cNvPr id="15" name="">
            <a:extLst xmlns:a="http://schemas.openxmlformats.org/drawingml/2006/main">
              <a:ext uri="{FF2B5EF4-FFF2-40B4-BE49-F238E27FC236}">
                <a16:creationId xmlns:a16="http://schemas.microsoft.com/office/drawing/2014/main" id="{871424C6-22EC-4FF5-B659-4BF0D19BAE66}"/>
              </a:ext>
            </a:extLst>
          </p:cNvPr>
          <p:cNvSpPr>
            <a:spLocks xmlns:a="http://schemas.openxmlformats.org/drawingml/2006/main" noGrp="1"/>
          </p:cNvSpPr>
          <p:nvPr/>
        </p:nvSpPr>
        <p:spPr>
          <a:xfrm xmlns:a="http://schemas.openxmlformats.org/drawingml/2006/main">
            <a:off x="8953500" y="21907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04</a:t>
            </a:r>
          </a:p>
        </p:txBody>
      </p:sp>
      <p:sp>
        <p:nvSpPr>
          <p:cNvPr id="16" name="">
            <a:extLst xmlns:a="http://schemas.openxmlformats.org/drawingml/2006/main">
              <a:ext uri="{FF2B5EF4-FFF2-40B4-BE49-F238E27FC236}">
                <a16:creationId xmlns:a16="http://schemas.microsoft.com/office/drawing/2014/main" id="{29F4786C-2E8F-466C-BD9D-6D57EA07958D}"/>
              </a:ext>
            </a:extLst>
          </p:cNvPr>
          <p:cNvSpPr>
            <a:spLocks xmlns:a="http://schemas.openxmlformats.org/drawingml/2006/main" noGrp="1"/>
          </p:cNvSpPr>
          <p:nvPr/>
        </p:nvSpPr>
        <p:spPr>
          <a:xfrm xmlns:a="http://schemas.openxmlformats.org/drawingml/2006/main">
            <a:off x="8953500" y="2809875"/>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Rules</a:t>
            </a:r>
          </a:p>
        </p:txBody>
      </p:sp>
      <p:sp>
        <p:nvSpPr>
          <p:cNvPr id="17" name="">
            <a:extLst xmlns:a="http://schemas.openxmlformats.org/drawingml/2006/main">
              <a:ext uri="{FF2B5EF4-FFF2-40B4-BE49-F238E27FC236}">
                <a16:creationId xmlns:a16="http://schemas.microsoft.com/office/drawing/2014/main" id="{AA6E40E9-9BA8-46C1-B19C-441ED9A4A515}"/>
              </a:ext>
            </a:extLst>
          </p:cNvPr>
          <p:cNvSpPr>
            <a:spLocks xmlns:a="http://schemas.openxmlformats.org/drawingml/2006/main" noGrp="1"/>
          </p:cNvSpPr>
          <p:nvPr/>
        </p:nvSpPr>
        <p:spPr>
          <a:xfrm xmlns:a="http://schemas.openxmlformats.org/drawingml/2006/main">
            <a:off x="8953500" y="368617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a:solidFill>
                  <a:srgbClr val="211E1A"/>
                </a:solidFill>
                <a:latin typeface="Lexend"/>
                <a:ea typeface="Lexend"/>
                <a:cs typeface="Lexend"/>
              </a:defRPr>
            </a:defPPr>
          </a:lstStyle>
          <a:p xmlns:a="http://schemas.openxmlformats.org/drawingml/2006/main">
            <a:pPr>
              <a:lnSpc>
                <a:spcPct val="115000"/>
              </a:lnSpc>
              <a:buNone/>
              <a:defRPr sz="2100">
                <a:solidFill>
                  <a:srgbClr val="211E1A"/>
                </a:solidFill>
                <a:latin typeface="Lexend"/>
                <a:ea typeface="Lexend"/>
                <a:cs typeface="Lexend"/>
              </a:defRPr>
            </a:pPr>
            <a:r>
              <a:rPr sz="2100">
                <a:solidFill>
                  <a:srgbClr val="211E1A"/>
                </a:solidFill>
                <a:latin typeface="Lexend"/>
                <a:ea typeface="Lexend"/>
                <a:cs typeface="Lexend"/>
              </a:rPr>
              <a:t>Define priority, states and mobile.</a:t>
            </a:r>
          </a:p>
        </p:txBody>
      </p:sp>
      <p:sp>
        <p:nvSpPr>
          <p:cNvPr id="18" name="">
            <a:extLst xmlns:a="http://schemas.openxmlformats.org/drawingml/2006/main">
              <a:ext uri="{FF2B5EF4-FFF2-40B4-BE49-F238E27FC236}">
                <a16:creationId xmlns:a16="http://schemas.microsoft.com/office/drawing/2014/main" id="{7592D277-D8AF-4CAD-A917-C8B04AB66A8C}"/>
              </a:ext>
            </a:extLst>
          </p:cNvPr>
          <p:cNvSpPr>
            <a:spLocks xmlns:a="http://schemas.openxmlformats.org/drawingml/2006/main" noGrp="1"/>
          </p:cNvSpPr>
          <p:nvPr/>
        </p:nvSpPr>
        <p:spPr>
          <a:xfrm xmlns:a="http://schemas.openxmlformats.org/drawingml/2006/main">
            <a:off x="609600" y="5314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625D55"/>
                </a:solidFill>
                <a:latin typeface="Lexend"/>
                <a:ea typeface="Lexend"/>
                <a:cs typeface="Lexend"/>
              </a:defRPr>
            </a:defPPr>
          </a:lstStyle>
          <a:p xmlns:a="http://schemas.openxmlformats.org/drawingml/2006/main">
            <a:pPr>
              <a:lnSpc>
                <a:spcPct val="115000"/>
              </a:lnSpc>
              <a:buNone/>
              <a:defRPr sz="2175">
                <a:solidFill>
                  <a:srgbClr val="625D55"/>
                </a:solidFill>
                <a:latin typeface="Lexend"/>
                <a:ea typeface="Lexend"/>
                <a:cs typeface="Lexend"/>
              </a:defRPr>
            </a:pPr>
            <a:r>
              <a:rPr sz="2175">
                <a:solidFill>
                  <a:srgbClr val="625D55"/>
                </a:solidFill>
                <a:latin typeface="Lexend"/>
                <a:ea typeface="Lexend"/>
                <a:cs typeface="Lexend"/>
              </a:rPr>
              <a:t>A shared system still leaves room for your own taste.</a:t>
            </a:r>
          </a:p>
        </p:txBody>
      </p:sp>
    </p:spTree>
    <p:extLst>
      <p:ext uri="{BB962C8B-B14F-4D97-AF65-F5344CB8AC3E}">
        <p14:creationId xmlns:p14="http://schemas.microsoft.com/office/powerpoint/2010/main" val="1713219904"/>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3C2416-B8AC-4CC2-B9BD-3059A451F2E0}"/>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SEMANTIC TOKENS</a:t>
            </a:r>
          </a:p>
        </p:txBody>
      </p:sp>
      <p:sp>
        <p:nvSpPr>
          <p:cNvPr id="2" name="">
            <a:extLst xmlns:a="http://schemas.openxmlformats.org/drawingml/2006/main">
              <a:ext uri="{FF2B5EF4-FFF2-40B4-BE49-F238E27FC236}">
                <a16:creationId xmlns:a16="http://schemas.microsoft.com/office/drawing/2014/main" id="{D566D0A8-C6BD-48D0-AA84-EFBF5EFC0AC1}"/>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Name the role. Reuse the value.</a:t>
            </a:r>
          </a:p>
        </p:txBody>
      </p:sp>
      <p:sp>
        <p:nvSpPr>
          <p:cNvPr id="3" name="">
            <a:extLst xmlns:a="http://schemas.openxmlformats.org/drawingml/2006/main">
              <a:ext uri="{FF2B5EF4-FFF2-40B4-BE49-F238E27FC236}">
                <a16:creationId xmlns:a16="http://schemas.microsoft.com/office/drawing/2014/main" id="{2878F6E9-3A84-4812-8011-09B8DD6C3D5A}"/>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90AA39-7BAE-4B05-9ED6-E1E4E6B6D7A9}"/>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D732C1AC-51F9-4E21-B324-9561C9D87F22}"/>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06</a:t>
            </a:r>
          </a:p>
        </p:txBody>
      </p:sp>
      <p:sp>
        <p:nvSpPr>
          <p:cNvPr id="6" name="">
            <a:extLst xmlns:a="http://schemas.openxmlformats.org/drawingml/2006/main">
              <a:ext uri="{FF2B5EF4-FFF2-40B4-BE49-F238E27FC236}">
                <a16:creationId xmlns:a16="http://schemas.microsoft.com/office/drawing/2014/main" id="{E918D3A1-63FB-4BFB-9980-66A44D56D516}"/>
              </a:ext>
            </a:extLst>
          </p:cNvPr>
          <p:cNvSpPr>
            <a:spLocks xmlns:a="http://schemas.openxmlformats.org/drawingml/2006/main" noGrp="1"/>
          </p:cNvSpPr>
          <p:nvPr/>
        </p:nvSpPr>
        <p:spPr>
          <a:xfrm xmlns:a="http://schemas.openxmlformats.org/drawingml/2006/main">
            <a:off x="609600" y="2047875"/>
            <a:ext cx="552450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a:solidFill>
                  <a:srgbClr val="211E1A"/>
                </a:solidFill>
                <a:latin typeface="Menlo"/>
                <a:ea typeface="Menlo"/>
                <a:cs typeface="Menlo"/>
              </a:defRPr>
            </a:defPPr>
          </a:lstStyle>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:root {</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  --surface: #ffffff;</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  --text: #1c303c;</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  --accent: #214e63;</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  --on-accent: #ffffff;</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  --space-4: 16px;</a:t>
            </a:r>
          </a:p>
          <a:p xmlns:a="http://schemas.openxmlformats.org/drawingml/2006/main">
            <a:pPr>
              <a:lnSpc>
                <a:spcPct val="115000"/>
              </a:lnSpc>
              <a:buNone/>
              <a:defRPr sz="2100">
                <a:solidFill>
                  <a:srgbClr val="211E1A"/>
                </a:solidFill>
                <a:latin typeface="Menlo"/>
                <a:ea typeface="Menlo"/>
                <a:cs typeface="Menlo"/>
              </a:defRPr>
            </a:pPr>
            <a:r>
              <a:rPr sz="2100">
                <a:solidFill>
                  <a:srgbClr val="211E1A"/>
                </a:solidFill>
                <a:latin typeface="Menlo"/>
                <a:ea typeface="Menlo"/>
                <a:cs typeface="Menlo"/>
              </a:rPr>
              <a:t>}</a:t>
            </a:r>
          </a:p>
        </p:txBody>
      </p:sp>
      <p:sp>
        <p:nvSpPr>
          <p:cNvPr id="7" name="">
            <a:extLst xmlns:a="http://schemas.openxmlformats.org/drawingml/2006/main">
              <a:ext uri="{FF2B5EF4-FFF2-40B4-BE49-F238E27FC236}">
                <a16:creationId xmlns:a16="http://schemas.microsoft.com/office/drawing/2014/main" id="{D76B701E-7C8D-4492-B7CF-EE706358EE65}"/>
              </a:ext>
            </a:extLst>
          </p:cNvPr>
          <p:cNvSpPr>
            <a:spLocks xmlns:a="http://schemas.openxmlformats.org/drawingml/2006/main" noGrp="1"/>
          </p:cNvSpPr>
          <p:nvPr/>
        </p:nvSpPr>
        <p:spPr>
          <a:xfrm xmlns:a="http://schemas.openxmlformats.org/drawingml/2006/main">
            <a:off x="6657975" y="2238375"/>
            <a:ext cx="5000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a:solidFill>
                  <a:srgbClr val="211E1A"/>
                </a:solidFill>
                <a:latin typeface="Menlo"/>
                <a:ea typeface="Menlo"/>
                <a:cs typeface="Menlo"/>
              </a:defRPr>
            </a:defPPr>
          </a:lstStyle>
          <a:p xmlns:a="http://schemas.openxmlformats.org/drawingml/2006/main">
            <a:pPr>
              <a:lnSpc>
                <a:spcPct val="115000"/>
              </a:lnSpc>
              <a:buNone/>
              <a:defRPr sz="1950">
                <a:solidFill>
                  <a:srgbClr val="211E1A"/>
                </a:solidFill>
                <a:latin typeface="Menlo"/>
                <a:ea typeface="Menlo"/>
                <a:cs typeface="Menlo"/>
              </a:defRPr>
            </a:pPr>
            <a:r>
              <a:rPr sz="1950">
                <a:solidFill>
                  <a:srgbClr val="211E1A"/>
                </a:solidFill>
                <a:latin typeface="Menlo"/>
                <a:ea typeface="Menlo"/>
                <a:cs typeface="Menlo"/>
              </a:rPr>
              <a:t>.button-primary {</a:t>
            </a:r>
          </a:p>
          <a:p xmlns:a="http://schemas.openxmlformats.org/drawingml/2006/main">
            <a:pPr>
              <a:lnSpc>
                <a:spcPct val="115000"/>
              </a:lnSpc>
              <a:buNone/>
              <a:defRPr sz="1950">
                <a:solidFill>
                  <a:srgbClr val="211E1A"/>
                </a:solidFill>
                <a:latin typeface="Menlo"/>
                <a:ea typeface="Menlo"/>
                <a:cs typeface="Menlo"/>
              </a:defRPr>
            </a:pPr>
            <a:r>
              <a:rPr sz="1950">
                <a:solidFill>
                  <a:srgbClr val="211E1A"/>
                </a:solidFill>
                <a:latin typeface="Menlo"/>
                <a:ea typeface="Menlo"/>
                <a:cs typeface="Menlo"/>
              </a:rPr>
              <a:t>  background: var(--accent);</a:t>
            </a:r>
          </a:p>
          <a:p xmlns:a="http://schemas.openxmlformats.org/drawingml/2006/main">
            <a:pPr>
              <a:lnSpc>
                <a:spcPct val="115000"/>
              </a:lnSpc>
              <a:buNone/>
              <a:defRPr sz="1950">
                <a:solidFill>
                  <a:srgbClr val="211E1A"/>
                </a:solidFill>
                <a:latin typeface="Menlo"/>
                <a:ea typeface="Menlo"/>
                <a:cs typeface="Menlo"/>
              </a:defRPr>
            </a:pPr>
            <a:r>
              <a:rPr sz="1950">
                <a:solidFill>
                  <a:srgbClr val="211E1A"/>
                </a:solidFill>
                <a:latin typeface="Menlo"/>
                <a:ea typeface="Menlo"/>
                <a:cs typeface="Menlo"/>
              </a:rPr>
              <a:t>  color: var(--on-accent);</a:t>
            </a:r>
          </a:p>
          <a:p xmlns:a="http://schemas.openxmlformats.org/drawingml/2006/main">
            <a:pPr>
              <a:lnSpc>
                <a:spcPct val="115000"/>
              </a:lnSpc>
              <a:buNone/>
              <a:defRPr sz="1950">
                <a:solidFill>
                  <a:srgbClr val="211E1A"/>
                </a:solidFill>
                <a:latin typeface="Menlo"/>
                <a:ea typeface="Menlo"/>
                <a:cs typeface="Menlo"/>
              </a:defRPr>
            </a:pPr>
            <a:r>
              <a:rPr sz="1950">
                <a:solidFill>
                  <a:srgbClr val="211E1A"/>
                </a:solidFill>
                <a:latin typeface="Menlo"/>
                <a:ea typeface="Menlo"/>
                <a:cs typeface="Menlo"/>
              </a:rPr>
              <a:t>  padding: var(--space-4);</a:t>
            </a:r>
          </a:p>
          <a:p xmlns:a="http://schemas.openxmlformats.org/drawingml/2006/main">
            <a:pPr>
              <a:lnSpc>
                <a:spcPct val="115000"/>
              </a:lnSpc>
              <a:buNone/>
              <a:defRPr sz="1950">
                <a:solidFill>
                  <a:srgbClr val="211E1A"/>
                </a:solidFill>
                <a:latin typeface="Menlo"/>
                <a:ea typeface="Menlo"/>
                <a:cs typeface="Menlo"/>
              </a:defRPr>
            </a:pPr>
            <a:r>
              <a:rPr sz="1950">
                <a:solidFill>
                  <a:srgbClr val="211E1A"/>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66AFFA93-4197-44F8-B3AD-EAE33D256D79}"/>
              </a:ext>
            </a:extLst>
          </p:cNvPr>
          <p:cNvSpPr>
            <a:spLocks xmlns:a="http://schemas.openxmlformats.org/drawingml/2006/main" noGrp="1"/>
          </p:cNvSpPr>
          <p:nvPr/>
        </p:nvSpPr>
        <p:spPr>
          <a:xfrm xmlns:a="http://schemas.openxmlformats.org/drawingml/2006/main">
            <a:off x="609600" y="54483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625D55"/>
                </a:solidFill>
                <a:latin typeface="Lexend"/>
                <a:ea typeface="Lexend"/>
                <a:cs typeface="Lexend"/>
              </a:defRPr>
            </a:defPPr>
          </a:lstStyle>
          <a:p xmlns:a="http://schemas.openxmlformats.org/drawingml/2006/main">
            <a:pPr>
              <a:lnSpc>
                <a:spcPct val="115000"/>
              </a:lnSpc>
              <a:buNone/>
              <a:defRPr sz="2175">
                <a:solidFill>
                  <a:srgbClr val="625D55"/>
                </a:solidFill>
                <a:latin typeface="Lexend"/>
                <a:ea typeface="Lexend"/>
                <a:cs typeface="Lexend"/>
              </a:defRPr>
            </a:pPr>
            <a:r>
              <a:rPr sz="2175">
                <a:solidFill>
                  <a:srgbClr val="625D55"/>
                </a:solidFill>
                <a:latin typeface="Lexend"/>
                <a:ea typeface="Lexend"/>
                <a:cs typeface="Lexend"/>
              </a:rPr>
              <a:t>One shared decision can update several components.</a:t>
            </a:r>
          </a:p>
        </p:txBody>
      </p:sp>
    </p:spTree>
    <p:extLst>
      <p:ext uri="{BB962C8B-B14F-4D97-AF65-F5344CB8AC3E}">
        <p14:creationId xmlns:p14="http://schemas.microsoft.com/office/powerpoint/2010/main" val="574014682"/>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4AE70A-4ADF-44DC-8B71-3E781526B386}"/>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COMPONENT RULES</a:t>
            </a:r>
          </a:p>
        </p:txBody>
      </p:sp>
      <p:sp>
        <p:nvSpPr>
          <p:cNvPr id="2" name="">
            <a:extLst xmlns:a="http://schemas.openxmlformats.org/drawingml/2006/main">
              <a:ext uri="{FF2B5EF4-FFF2-40B4-BE49-F238E27FC236}">
                <a16:creationId xmlns:a16="http://schemas.microsoft.com/office/drawing/2014/main" id="{472D6E4E-3F32-4571-A6DC-BE6A8FCDF070}"/>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Specify the states and the exceptions.</a:t>
            </a:r>
          </a:p>
        </p:txBody>
      </p:sp>
      <p:sp>
        <p:nvSpPr>
          <p:cNvPr id="3" name="">
            <a:extLst xmlns:a="http://schemas.openxmlformats.org/drawingml/2006/main">
              <a:ext uri="{FF2B5EF4-FFF2-40B4-BE49-F238E27FC236}">
                <a16:creationId xmlns:a16="http://schemas.microsoft.com/office/drawing/2014/main" id="{A43AA36E-9BE7-4A19-9A92-E73E1E9FB476}"/>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22904B-980E-4940-A2B0-8D8D8630106B}"/>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C1B77E7E-0A80-4AB8-B649-7ECFE8844603}"/>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07</a:t>
            </a:r>
          </a:p>
        </p:txBody>
      </p:sp>
      <p:sp>
        <p:nvSpPr>
          <p:cNvPr id="6" name="">
            <a:extLst xmlns:a="http://schemas.openxmlformats.org/drawingml/2006/main">
              <a:ext uri="{FF2B5EF4-FFF2-40B4-BE49-F238E27FC236}">
                <a16:creationId xmlns:a16="http://schemas.microsoft.com/office/drawing/2014/main" id="{3F86EA5F-05D6-4775-B64E-3AC1D24E3AD4}"/>
              </a:ext>
            </a:extLst>
          </p:cNvPr>
          <p:cNvSpPr>
            <a:spLocks xmlns:a="http://schemas.openxmlformats.org/drawingml/2006/main" noGrp="1"/>
          </p:cNvSpPr>
          <p:nvPr/>
        </p:nvSpPr>
        <p:spPr>
          <a:xfrm xmlns:a="http://schemas.openxmlformats.org/drawingml/2006/main">
            <a:off x="609600" y="20383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Bill rows</a:t>
            </a:r>
          </a:p>
        </p:txBody>
      </p:sp>
      <p:sp>
        <p:nvSpPr>
          <p:cNvPr id="7" name="">
            <a:extLst xmlns:a="http://schemas.openxmlformats.org/drawingml/2006/main">
              <a:ext uri="{FF2B5EF4-FFF2-40B4-BE49-F238E27FC236}">
                <a16:creationId xmlns:a16="http://schemas.microsoft.com/office/drawing/2014/main" id="{D88F3133-684E-4427-9653-B528C3F8F6DD}"/>
              </a:ext>
            </a:extLst>
          </p:cNvPr>
          <p:cNvSpPr>
            <a:spLocks xmlns:a="http://schemas.openxmlformats.org/drawingml/2006/main" noGrp="1"/>
          </p:cNvSpPr>
          <p:nvPr/>
        </p:nvSpPr>
        <p:spPr>
          <a:xfrm xmlns:a="http://schemas.openxmlformats.org/drawingml/2006/main">
            <a:off x="609600" y="24955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Same date, amount and spacing rules for every bill.</a:t>
            </a:r>
          </a:p>
        </p:txBody>
      </p:sp>
      <p:sp>
        <p:nvSpPr>
          <p:cNvPr id="8" name="">
            <a:extLst xmlns:a="http://schemas.openxmlformats.org/drawingml/2006/main">
              <a:ext uri="{FF2B5EF4-FFF2-40B4-BE49-F238E27FC236}">
                <a16:creationId xmlns:a16="http://schemas.microsoft.com/office/drawing/2014/main" id="{627B26FE-4D9B-41F5-838E-4CC48278F36C}"/>
              </a:ext>
            </a:extLst>
          </p:cNvPr>
          <p:cNvSpPr>
            <a:spLocks xmlns:a="http://schemas.openxmlformats.org/drawingml/2006/main" noGrp="1"/>
          </p:cNvSpPr>
          <p:nvPr/>
        </p:nvSpPr>
        <p:spPr>
          <a:xfrm xmlns:a="http://schemas.openxmlformats.org/drawingml/2006/main">
            <a:off x="609600" y="34194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Buttons and filters</a:t>
            </a:r>
          </a:p>
        </p:txBody>
      </p:sp>
      <p:sp>
        <p:nvSpPr>
          <p:cNvPr id="9" name="">
            <a:extLst xmlns:a="http://schemas.openxmlformats.org/drawingml/2006/main">
              <a:ext uri="{FF2B5EF4-FFF2-40B4-BE49-F238E27FC236}">
                <a16:creationId xmlns:a16="http://schemas.microsoft.com/office/drawing/2014/main" id="{8201572D-A681-4CBD-946F-85C57B1E7EAD}"/>
              </a:ext>
            </a:extLst>
          </p:cNvPr>
          <p:cNvSpPr>
            <a:spLocks xmlns:a="http://schemas.openxmlformats.org/drawingml/2006/main" noGrp="1"/>
          </p:cNvSpPr>
          <p:nvPr/>
        </p:nvSpPr>
        <p:spPr>
          <a:xfrm xmlns:a="http://schemas.openxmlformats.org/drawingml/2006/main">
            <a:off x="609600" y="38766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Default, hover, selected and visible keyboard focus.</a:t>
            </a:r>
          </a:p>
        </p:txBody>
      </p:sp>
      <p:sp>
        <p:nvSpPr>
          <p:cNvPr id="10" name="">
            <a:extLst xmlns:a="http://schemas.openxmlformats.org/drawingml/2006/main">
              <a:ext uri="{FF2B5EF4-FFF2-40B4-BE49-F238E27FC236}">
                <a16:creationId xmlns:a16="http://schemas.microsoft.com/office/drawing/2014/main" id="{2CFF8BBA-E9D9-42D6-81C0-8F65A1E6FB10}"/>
              </a:ext>
            </a:extLst>
          </p:cNvPr>
          <p:cNvSpPr>
            <a:spLocks xmlns:a="http://schemas.openxmlformats.org/drawingml/2006/main" noGrp="1"/>
          </p:cNvSpPr>
          <p:nvPr/>
        </p:nvSpPr>
        <p:spPr>
          <a:xfrm xmlns:a="http://schemas.openxmlformats.org/drawingml/2006/main">
            <a:off x="609600" y="48006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Responsive hierarchy</a:t>
            </a:r>
          </a:p>
        </p:txBody>
      </p:sp>
      <p:sp>
        <p:nvSpPr>
          <p:cNvPr id="11" name="">
            <a:extLst xmlns:a="http://schemas.openxmlformats.org/drawingml/2006/main">
              <a:ext uri="{FF2B5EF4-FFF2-40B4-BE49-F238E27FC236}">
                <a16:creationId xmlns:a16="http://schemas.microsoft.com/office/drawing/2014/main" id="{6A9548E3-1C75-48FE-B577-6D052C0E75F4}"/>
              </a:ext>
            </a:extLst>
          </p:cNvPr>
          <p:cNvSpPr>
            <a:spLocks xmlns:a="http://schemas.openxmlformats.org/drawingml/2006/main" noGrp="1"/>
          </p:cNvSpPr>
          <p:nvPr/>
        </p:nvSpPr>
        <p:spPr>
          <a:xfrm xmlns:a="http://schemas.openxmlformats.org/drawingml/2006/main">
            <a:off x="609600" y="52578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Bills remain first; amounts stay beside their own bill.</a:t>
            </a:r>
          </a:p>
        </p:txBody>
      </p:sp>
    </p:spTree>
    <p:extLst>
      <p:ext uri="{BB962C8B-B14F-4D97-AF65-F5344CB8AC3E}">
        <p14:creationId xmlns:p14="http://schemas.microsoft.com/office/powerpoint/2010/main" val="731299295"/>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5FE903-3C7C-4B63-828C-C68181BE9F6A}"/>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EXISTING SYSTEMS</a:t>
            </a:r>
          </a:p>
        </p:txBody>
      </p:sp>
      <p:sp>
        <p:nvSpPr>
          <p:cNvPr id="2" name="">
            <a:extLst xmlns:a="http://schemas.openxmlformats.org/drawingml/2006/main">
              <a:ext uri="{FF2B5EF4-FFF2-40B4-BE49-F238E27FC236}">
                <a16:creationId xmlns:a16="http://schemas.microsoft.com/office/drawing/2014/main" id="{8E565C94-5039-4B85-B9D0-0B421A2E33FB}"/>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Start with foundations that fit your project.</a:t>
            </a:r>
          </a:p>
        </p:txBody>
      </p:sp>
      <p:sp>
        <p:nvSpPr>
          <p:cNvPr id="3" name="">
            <a:extLst xmlns:a="http://schemas.openxmlformats.org/drawingml/2006/main">
              <a:ext uri="{FF2B5EF4-FFF2-40B4-BE49-F238E27FC236}">
                <a16:creationId xmlns:a16="http://schemas.microsoft.com/office/drawing/2014/main" id="{B989B5FB-FBBA-4DBB-99FB-BC608E99AA57}"/>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58D76B-C1C8-4BF5-9169-9623C18594DF}"/>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D72222DB-EC72-4ACD-ADAB-BD5928827F4A}"/>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08</a:t>
            </a:r>
          </a:p>
        </p:txBody>
      </p:sp>
      <p:sp>
        <p:nvSpPr>
          <p:cNvPr id="6" name="">
            <a:extLst xmlns:a="http://schemas.openxmlformats.org/drawingml/2006/main">
              <a:ext uri="{FF2B5EF4-FFF2-40B4-BE49-F238E27FC236}">
                <a16:creationId xmlns:a16="http://schemas.microsoft.com/office/drawing/2014/main" id="{B2CC329E-8BF2-4AE7-81E0-957D42C1BF21}"/>
              </a:ext>
            </a:extLst>
          </p:cNvPr>
          <p:cNvSpPr>
            <a:spLocks xmlns:a="http://schemas.openxmlformats.org/drawingml/2006/main" noGrp="1"/>
          </p:cNvSpPr>
          <p:nvPr/>
        </p:nvSpPr>
        <p:spPr>
          <a:xfrm xmlns:a="http://schemas.openxmlformats.org/drawingml/2006/main">
            <a:off x="609600" y="22383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Carbon</a:t>
            </a:r>
          </a:p>
        </p:txBody>
      </p:sp>
      <p:sp>
        <p:nvSpPr>
          <p:cNvPr id="7" name="">
            <a:extLst xmlns:a="http://schemas.openxmlformats.org/drawingml/2006/main">
              <a:ext uri="{FF2B5EF4-FFF2-40B4-BE49-F238E27FC236}">
                <a16:creationId xmlns:a16="http://schemas.microsoft.com/office/drawing/2014/main" id="{42F0C79B-A2F9-4B6F-91BB-5CF174BAC1FB}"/>
              </a:ext>
            </a:extLst>
          </p:cNvPr>
          <p:cNvSpPr>
            <a:spLocks xmlns:a="http://schemas.openxmlformats.org/drawingml/2006/main" noGrp="1"/>
          </p:cNvSpPr>
          <p:nvPr/>
        </p:nvSpPr>
        <p:spPr>
          <a:xfrm xmlns:a="http://schemas.openxmlformats.org/drawingml/2006/main">
            <a:off x="609600" y="31337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IBM’s product system</a:t>
            </a:r>
          </a:p>
        </p:txBody>
      </p:sp>
      <p:sp>
        <p:nvSpPr>
          <p:cNvPr id="8" name="">
            <a:extLst xmlns:a="http://schemas.openxmlformats.org/drawingml/2006/main">
              <a:ext uri="{FF2B5EF4-FFF2-40B4-BE49-F238E27FC236}">
                <a16:creationId xmlns:a16="http://schemas.microsoft.com/office/drawing/2014/main" id="{542424D4-D750-410A-AF70-B18E60C70150}"/>
              </a:ext>
            </a:extLst>
          </p:cNvPr>
          <p:cNvSpPr>
            <a:spLocks xmlns:a="http://schemas.openxmlformats.org/drawingml/2006/main" noGrp="1"/>
          </p:cNvSpPr>
          <p:nvPr/>
        </p:nvSpPr>
        <p:spPr>
          <a:xfrm xmlns:a="http://schemas.openxmlformats.org/drawingml/2006/main">
            <a:off x="609600" y="416242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a:solidFill>
                  <a:srgbClr val="211E1A"/>
                </a:solidFill>
                <a:latin typeface="Lexend"/>
                <a:ea typeface="Lexend"/>
                <a:cs typeface="Lexend"/>
              </a:defRPr>
            </a:defPPr>
          </a:lstStyle>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Foundations, components</a:t>
            </a:r>
          </a:p>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and usage guidance.</a:t>
            </a:r>
          </a:p>
        </p:txBody>
      </p:sp>
      <p:sp>
        <p:nvSpPr>
          <p:cNvPr id="9" name="">
            <a:extLst xmlns:a="http://schemas.openxmlformats.org/drawingml/2006/main">
              <a:ext uri="{FF2B5EF4-FFF2-40B4-BE49-F238E27FC236}">
                <a16:creationId xmlns:a16="http://schemas.microsoft.com/office/drawing/2014/main" id="{9FDA1B61-5A6E-4D6B-8380-D975CFCAA644}"/>
              </a:ext>
            </a:extLst>
          </p:cNvPr>
          <p:cNvSpPr>
            <a:spLocks xmlns:a="http://schemas.openxmlformats.org/drawingml/2006/main" noGrp="1"/>
          </p:cNvSpPr>
          <p:nvPr/>
        </p:nvSpPr>
        <p:spPr>
          <a:xfrm xmlns:a="http://schemas.openxmlformats.org/drawingml/2006/main">
            <a:off x="4352925" y="22383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Fluent 2</a:t>
            </a:r>
          </a:p>
        </p:txBody>
      </p:sp>
      <p:sp>
        <p:nvSpPr>
          <p:cNvPr id="10" name="">
            <a:extLst xmlns:a="http://schemas.openxmlformats.org/drawingml/2006/main">
              <a:ext uri="{FF2B5EF4-FFF2-40B4-BE49-F238E27FC236}">
                <a16:creationId xmlns:a16="http://schemas.microsoft.com/office/drawing/2014/main" id="{8C917C84-64F6-4C04-891B-6285EAC391A0}"/>
              </a:ext>
            </a:extLst>
          </p:cNvPr>
          <p:cNvSpPr>
            <a:spLocks xmlns:a="http://schemas.openxmlformats.org/drawingml/2006/main" noGrp="1"/>
          </p:cNvSpPr>
          <p:nvPr/>
        </p:nvSpPr>
        <p:spPr>
          <a:xfrm xmlns:a="http://schemas.openxmlformats.org/drawingml/2006/main">
            <a:off x="4352925" y="31337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Microsoft’s design system</a:t>
            </a:r>
          </a:p>
        </p:txBody>
      </p:sp>
      <p:sp>
        <p:nvSpPr>
          <p:cNvPr id="11" name="">
            <a:extLst xmlns:a="http://schemas.openxmlformats.org/drawingml/2006/main">
              <a:ext uri="{FF2B5EF4-FFF2-40B4-BE49-F238E27FC236}">
                <a16:creationId xmlns:a16="http://schemas.microsoft.com/office/drawing/2014/main" id="{818D591B-B6EF-4721-A7B4-945533049170}"/>
              </a:ext>
            </a:extLst>
          </p:cNvPr>
          <p:cNvSpPr>
            <a:spLocks xmlns:a="http://schemas.openxmlformats.org/drawingml/2006/main" noGrp="1"/>
          </p:cNvSpPr>
          <p:nvPr/>
        </p:nvSpPr>
        <p:spPr>
          <a:xfrm xmlns:a="http://schemas.openxmlformats.org/drawingml/2006/main">
            <a:off x="4352925" y="416242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a:solidFill>
                  <a:srgbClr val="211E1A"/>
                </a:solidFill>
                <a:latin typeface="Lexend"/>
                <a:ea typeface="Lexend"/>
                <a:cs typeface="Lexend"/>
              </a:defRPr>
            </a:defPPr>
          </a:lstStyle>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Resources and components</a:t>
            </a:r>
          </a:p>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for several platforms.</a:t>
            </a:r>
          </a:p>
        </p:txBody>
      </p:sp>
      <p:sp>
        <p:nvSpPr>
          <p:cNvPr id="12" name="">
            <a:extLst xmlns:a="http://schemas.openxmlformats.org/drawingml/2006/main">
              <a:ext uri="{FF2B5EF4-FFF2-40B4-BE49-F238E27FC236}">
                <a16:creationId xmlns:a16="http://schemas.microsoft.com/office/drawing/2014/main" id="{89AD00F1-3F56-4171-8857-8D81B8D45F30}"/>
              </a:ext>
            </a:extLst>
          </p:cNvPr>
          <p:cNvSpPr>
            <a:spLocks xmlns:a="http://schemas.openxmlformats.org/drawingml/2006/main" noGrp="1"/>
          </p:cNvSpPr>
          <p:nvPr/>
        </p:nvSpPr>
        <p:spPr>
          <a:xfrm xmlns:a="http://schemas.openxmlformats.org/drawingml/2006/main">
            <a:off x="8096250" y="22383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a:solidFill>
                  <a:srgbClr val="211E1A"/>
                </a:solidFill>
                <a:latin typeface="Georgia"/>
                <a:ea typeface="Georgia"/>
                <a:cs typeface="Georgia"/>
              </a:defRPr>
            </a:defPPr>
          </a:lstStyle>
          <a:p xmlns:a="http://schemas.openxmlformats.org/drawingml/2006/main">
            <a:pPr>
              <a:lnSpc>
                <a:spcPct val="115000"/>
              </a:lnSpc>
              <a:buNone/>
              <a:defRPr sz="3150">
                <a:solidFill>
                  <a:srgbClr val="211E1A"/>
                </a:solidFill>
                <a:latin typeface="Georgia"/>
                <a:ea typeface="Georgia"/>
                <a:cs typeface="Georgia"/>
              </a:defRPr>
            </a:pPr>
            <a:r>
              <a:rPr sz="3150">
                <a:solidFill>
                  <a:srgbClr val="211E1A"/>
                </a:solidFill>
                <a:latin typeface="Georgia"/>
                <a:ea typeface="Georgia"/>
                <a:cs typeface="Georgia"/>
              </a:rPr>
              <a:t>Radix Primitives</a:t>
            </a:r>
          </a:p>
        </p:txBody>
      </p:sp>
      <p:sp>
        <p:nvSpPr>
          <p:cNvPr id="13" name="">
            <a:extLst xmlns:a="http://schemas.openxmlformats.org/drawingml/2006/main">
              <a:ext uri="{FF2B5EF4-FFF2-40B4-BE49-F238E27FC236}">
                <a16:creationId xmlns:a16="http://schemas.microsoft.com/office/drawing/2014/main" id="{692510D6-D067-4526-BC15-D0A50876234B}"/>
              </a:ext>
            </a:extLst>
          </p:cNvPr>
          <p:cNvSpPr>
            <a:spLocks xmlns:a="http://schemas.openxmlformats.org/drawingml/2006/main" noGrp="1"/>
          </p:cNvSpPr>
          <p:nvPr/>
        </p:nvSpPr>
        <p:spPr>
          <a:xfrm xmlns:a="http://schemas.openxmlformats.org/drawingml/2006/main">
            <a:off x="8096250" y="31337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a:solidFill>
                  <a:srgbClr val="654613"/>
                </a:solidFill>
                <a:latin typeface="Lexend"/>
                <a:ea typeface="Lexend"/>
                <a:cs typeface="Lexend"/>
              </a:defRPr>
            </a:defPPr>
          </a:lstStyle>
          <a:p xmlns:a="http://schemas.openxmlformats.org/drawingml/2006/main">
            <a:pPr>
              <a:lnSpc>
                <a:spcPct val="115000"/>
              </a:lnSpc>
              <a:buNone/>
              <a:defRPr sz="1800">
                <a:solidFill>
                  <a:srgbClr val="654613"/>
                </a:solidFill>
                <a:latin typeface="Lexend"/>
                <a:ea typeface="Lexend"/>
                <a:cs typeface="Lexend"/>
              </a:defRPr>
            </a:pPr>
            <a:r>
              <a:rPr sz="1800">
                <a:solidFill>
                  <a:srgbClr val="654613"/>
                </a:solidFill>
                <a:latin typeface="Lexend"/>
                <a:ea typeface="Lexend"/>
                <a:cs typeface="Lexend"/>
              </a:rPr>
              <a:t>Unstyled behaviors</a:t>
            </a:r>
          </a:p>
        </p:txBody>
      </p:sp>
      <p:sp>
        <p:nvSpPr>
          <p:cNvPr id="14" name="">
            <a:extLst xmlns:a="http://schemas.openxmlformats.org/drawingml/2006/main">
              <a:ext uri="{FF2B5EF4-FFF2-40B4-BE49-F238E27FC236}">
                <a16:creationId xmlns:a16="http://schemas.microsoft.com/office/drawing/2014/main" id="{305BDF6B-18D0-4B9E-836E-333D0E7E01C1}"/>
              </a:ext>
            </a:extLst>
          </p:cNvPr>
          <p:cNvSpPr>
            <a:spLocks xmlns:a="http://schemas.openxmlformats.org/drawingml/2006/main" noGrp="1"/>
          </p:cNvSpPr>
          <p:nvPr/>
        </p:nvSpPr>
        <p:spPr>
          <a:xfrm xmlns:a="http://schemas.openxmlformats.org/drawingml/2006/main">
            <a:off x="8096250" y="416242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a:solidFill>
                  <a:srgbClr val="211E1A"/>
                </a:solidFill>
                <a:latin typeface="Lexend"/>
                <a:ea typeface="Lexend"/>
                <a:cs typeface="Lexend"/>
              </a:defRPr>
            </a:defPPr>
          </a:lstStyle>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Accessible building blocks;</a:t>
            </a:r>
          </a:p>
          <a:p xmlns:a="http://schemas.openxmlformats.org/drawingml/2006/main">
            <a:pPr>
              <a:lnSpc>
                <a:spcPct val="115000"/>
              </a:lnSpc>
              <a:buNone/>
              <a:defRPr sz="2025">
                <a:solidFill>
                  <a:srgbClr val="211E1A"/>
                </a:solidFill>
                <a:latin typeface="Lexend"/>
                <a:ea typeface="Lexend"/>
                <a:cs typeface="Lexend"/>
              </a:defRPr>
            </a:pPr>
            <a:r>
              <a:rPr sz="2025">
                <a:solidFill>
                  <a:srgbClr val="211E1A"/>
                </a:solidFill>
                <a:latin typeface="Lexend"/>
                <a:ea typeface="Lexend"/>
                <a:cs typeface="Lexend"/>
              </a:rPr>
              <a:t>you supply visual rules.</a:t>
            </a:r>
          </a:p>
        </p:txBody>
      </p:sp>
    </p:spTree>
    <p:extLst>
      <p:ext uri="{BB962C8B-B14F-4D97-AF65-F5344CB8AC3E}">
        <p14:creationId xmlns:p14="http://schemas.microsoft.com/office/powerpoint/2010/main" val="1927597813"/>
      </p:ext>
    </p:extLst>
  </p:cSld>
</p:sld>
</file>

<file path=ppt/slides/slide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8B6923D-77BA-4A13-A3AA-493386EB0995}"/>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CHOOSE A DIRECTION</a:t>
            </a:r>
          </a:p>
        </p:txBody>
      </p:sp>
      <p:sp>
        <p:nvSpPr>
          <p:cNvPr id="2" name="">
            <a:extLst xmlns:a="http://schemas.openxmlformats.org/drawingml/2006/main">
              <a:ext uri="{FF2B5EF4-FFF2-40B4-BE49-F238E27FC236}">
                <a16:creationId xmlns:a16="http://schemas.microsoft.com/office/drawing/2014/main" id="{3F5A1D44-32AC-4E60-8D1E-C6A9A8AAB297}"/>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Different personalities. Shared discipline.</a:t>
            </a:r>
          </a:p>
        </p:txBody>
      </p:sp>
      <p:sp>
        <p:nvSpPr>
          <p:cNvPr id="3" name="">
            <a:extLst xmlns:a="http://schemas.openxmlformats.org/drawingml/2006/main">
              <a:ext uri="{FF2B5EF4-FFF2-40B4-BE49-F238E27FC236}">
                <a16:creationId xmlns:a16="http://schemas.microsoft.com/office/drawing/2014/main" id="{0444DAA8-1D01-48D9-B654-A9D05746E50F}"/>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EBFC6F-1CA3-4C8E-867C-042FA85BECF5}"/>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C24AB614-152A-4938-B3C4-521C12E0E418}"/>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09</a:t>
            </a:r>
          </a:p>
        </p:txBody>
      </p:sp>
      <p:pic>
        <p:nvPicPr>
          <p:cNvPr id="6" name="">
            <a:extLst xmlns:a="http://schemas.openxmlformats.org/drawingml/2006/main">
              <a:ext uri="{FF2B5EF4-FFF2-40B4-BE49-F238E27FC236}">
                <a16:creationId xmlns:a16="http://schemas.microsoft.com/office/drawing/2014/main" id="{023DF3FC-D77B-463D-8801-D09B09EB0511}"/>
              </a:ext>
            </a:extLst>
          </p:cNvPr>
          <p:cNvPicPr>
            <a:picLocks xmlns:a="http://schemas.openxmlformats.org/drawingml/2006/main" noChangeAspect="1"/>
          </p:cNvPicPr>
          <p:nvPr/>
        </p:nvPicPr>
        <p:blipFill>
          <a:blip xmlns:r="http://schemas.openxmlformats.org/officeDocument/2006/relationships" xmlns:a="http://schemas.openxmlformats.org/drawingml/2006/main" r:embed="R81706c65b2dc4f3d"/>
          <a:stretch xmlns:a="http://schemas.openxmlformats.org/drawingml/2006/main"/>
        </p:blipFill>
        <p:spPr>
          <a:xfrm xmlns:a="http://schemas.openxmlformats.org/drawingml/2006/main">
            <a:off x="694356" y="1933575"/>
            <a:ext cx="3164237"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D6DC102-400B-4395-8D5F-4D3936F11B91}"/>
              </a:ext>
            </a:extLst>
          </p:cNvPr>
          <p:cNvSpPr>
            <a:spLocks xmlns:a="http://schemas.openxmlformats.org/drawingml/2006/main" noGrp="1"/>
          </p:cNvSpPr>
          <p:nvPr/>
        </p:nvSpPr>
        <p:spPr>
          <a:xfrm xmlns:a="http://schemas.openxmlformats.org/drawingml/2006/main">
            <a:off x="609600" y="538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211E1A"/>
                </a:solidFill>
                <a:latin typeface="Georgia"/>
                <a:ea typeface="Georgia"/>
                <a:cs typeface="Georgia"/>
              </a:defRPr>
            </a:defPPr>
          </a:lstStyle>
          <a:p xmlns:a="http://schemas.openxmlformats.org/drawingml/2006/main">
            <a:pPr>
              <a:lnSpc>
                <a:spcPct val="115000"/>
              </a:lnSpc>
              <a:buNone/>
              <a:defRPr sz="2175">
                <a:solidFill>
                  <a:srgbClr val="211E1A"/>
                </a:solidFill>
                <a:latin typeface="Georgia"/>
                <a:ea typeface="Georgia"/>
                <a:cs typeface="Georgia"/>
              </a:defRPr>
            </a:pPr>
            <a:r>
              <a:rPr sz="2175">
                <a:solidFill>
                  <a:srgbClr val="211E1A"/>
                </a:solidFill>
                <a:latin typeface="Georgia"/>
                <a:ea typeface="Georgia"/>
                <a:cs typeface="Georgia"/>
              </a:rPr>
              <a:t>Ledger</a:t>
            </a:r>
          </a:p>
        </p:txBody>
      </p:sp>
      <p:sp>
        <p:nvSpPr>
          <p:cNvPr id="8" name="">
            <a:extLst xmlns:a="http://schemas.openxmlformats.org/drawingml/2006/main">
              <a:ext uri="{FF2B5EF4-FFF2-40B4-BE49-F238E27FC236}">
                <a16:creationId xmlns:a16="http://schemas.microsoft.com/office/drawing/2014/main" id="{183ADC9C-86BA-4C88-A648-9169A727CF31}"/>
              </a:ext>
            </a:extLst>
          </p:cNvPr>
          <p:cNvSpPr>
            <a:spLocks xmlns:a="http://schemas.openxmlformats.org/drawingml/2006/main" noGrp="1"/>
          </p:cNvSpPr>
          <p:nvPr/>
        </p:nvSpPr>
        <p:spPr>
          <a:xfrm xmlns:a="http://schemas.openxmlformats.org/drawingml/2006/main">
            <a:off x="609600" y="5810250"/>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a:solidFill>
                  <a:srgbClr val="625D55"/>
                </a:solidFill>
                <a:latin typeface="Lexend"/>
                <a:ea typeface="Lexend"/>
                <a:cs typeface="Lexend"/>
              </a:defRPr>
            </a:defPPr>
          </a:lstStyle>
          <a:p xmlns:a="http://schemas.openxmlformats.org/drawingml/2006/main">
            <a:pPr>
              <a:lnSpc>
                <a:spcPct val="115000"/>
              </a:lnSpc>
              <a:buNone/>
              <a:defRPr sz="1650">
                <a:solidFill>
                  <a:srgbClr val="625D55"/>
                </a:solidFill>
                <a:latin typeface="Lexend"/>
                <a:ea typeface="Lexend"/>
                <a:cs typeface="Lexend"/>
              </a:defRPr>
            </a:pPr>
            <a:r>
              <a:rPr sz="1650">
                <a:solidFill>
                  <a:srgbClr val="625D55"/>
                </a:solidFill>
                <a:latin typeface="Lexend"/>
                <a:ea typeface="Lexend"/>
                <a:cs typeface="Lexend"/>
              </a:rPr>
              <a:t>Quiet reading</a:t>
            </a:r>
          </a:p>
        </p:txBody>
      </p:sp>
      <p:pic>
        <p:nvPicPr>
          <p:cNvPr id="9" name="">
            <a:extLst xmlns:a="http://schemas.openxmlformats.org/drawingml/2006/main">
              <a:ext uri="{FF2B5EF4-FFF2-40B4-BE49-F238E27FC236}">
                <a16:creationId xmlns:a16="http://schemas.microsoft.com/office/drawing/2014/main" id="{129D0B08-CA5D-4C3F-B5F9-1852A6F9BB97}"/>
              </a:ext>
            </a:extLst>
          </p:cNvPr>
          <p:cNvPicPr>
            <a:picLocks xmlns:a="http://schemas.openxmlformats.org/drawingml/2006/main" noChangeAspect="1"/>
          </p:cNvPicPr>
          <p:nvPr/>
        </p:nvPicPr>
        <p:blipFill>
          <a:blip xmlns:r="http://schemas.openxmlformats.org/officeDocument/2006/relationships" xmlns:a="http://schemas.openxmlformats.org/drawingml/2006/main" r:embed="Re787fd1c6a964ffc"/>
          <a:stretch xmlns:a="http://schemas.openxmlformats.org/drawingml/2006/main"/>
        </p:blipFill>
        <p:spPr>
          <a:xfrm xmlns:a="http://schemas.openxmlformats.org/drawingml/2006/main">
            <a:off x="4437681" y="1933575"/>
            <a:ext cx="3164237" cy="3333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C9C8504-5142-410E-8D55-26C234981A98}"/>
              </a:ext>
            </a:extLst>
          </p:cNvPr>
          <p:cNvSpPr>
            <a:spLocks xmlns:a="http://schemas.openxmlformats.org/drawingml/2006/main" noGrp="1"/>
          </p:cNvSpPr>
          <p:nvPr/>
        </p:nvSpPr>
        <p:spPr>
          <a:xfrm xmlns:a="http://schemas.openxmlformats.org/drawingml/2006/main">
            <a:off x="4352925" y="538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211E1A"/>
                </a:solidFill>
                <a:latin typeface="Georgia"/>
                <a:ea typeface="Georgia"/>
                <a:cs typeface="Georgia"/>
              </a:defRPr>
            </a:defPPr>
          </a:lstStyle>
          <a:p xmlns:a="http://schemas.openxmlformats.org/drawingml/2006/main">
            <a:pPr>
              <a:lnSpc>
                <a:spcPct val="115000"/>
              </a:lnSpc>
              <a:buNone/>
              <a:defRPr sz="2175">
                <a:solidFill>
                  <a:srgbClr val="211E1A"/>
                </a:solidFill>
                <a:latin typeface="Georgia"/>
                <a:ea typeface="Georgia"/>
                <a:cs typeface="Georgia"/>
              </a:defRPr>
            </a:pPr>
            <a:r>
              <a:rPr sz="2175">
                <a:solidFill>
                  <a:srgbClr val="211E1A"/>
                </a:solidFill>
                <a:latin typeface="Georgia"/>
                <a:ea typeface="Georgia"/>
                <a:cs typeface="Georgia"/>
              </a:rPr>
              <a:t>Signal</a:t>
            </a:r>
          </a:p>
        </p:txBody>
      </p:sp>
      <p:sp>
        <p:nvSpPr>
          <p:cNvPr id="11" name="">
            <a:extLst xmlns:a="http://schemas.openxmlformats.org/drawingml/2006/main">
              <a:ext uri="{FF2B5EF4-FFF2-40B4-BE49-F238E27FC236}">
                <a16:creationId xmlns:a16="http://schemas.microsoft.com/office/drawing/2014/main" id="{82B4D69F-EC23-43B8-B654-022DBB68A1AE}"/>
              </a:ext>
            </a:extLst>
          </p:cNvPr>
          <p:cNvSpPr>
            <a:spLocks xmlns:a="http://schemas.openxmlformats.org/drawingml/2006/main" noGrp="1"/>
          </p:cNvSpPr>
          <p:nvPr/>
        </p:nvSpPr>
        <p:spPr>
          <a:xfrm xmlns:a="http://schemas.openxmlformats.org/drawingml/2006/main">
            <a:off x="4352925" y="5810250"/>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a:solidFill>
                  <a:srgbClr val="625D55"/>
                </a:solidFill>
                <a:latin typeface="Lexend"/>
                <a:ea typeface="Lexend"/>
                <a:cs typeface="Lexend"/>
              </a:defRPr>
            </a:defPPr>
          </a:lstStyle>
          <a:p xmlns:a="http://schemas.openxmlformats.org/drawingml/2006/main">
            <a:pPr>
              <a:lnSpc>
                <a:spcPct val="115000"/>
              </a:lnSpc>
              <a:buNone/>
              <a:defRPr sz="1650">
                <a:solidFill>
                  <a:srgbClr val="625D55"/>
                </a:solidFill>
                <a:latin typeface="Lexend"/>
                <a:ea typeface="Lexend"/>
                <a:cs typeface="Lexend"/>
              </a:defRPr>
            </a:pPr>
            <a:r>
              <a:rPr sz="1650">
                <a:solidFill>
                  <a:srgbClr val="625D55"/>
                </a:solidFill>
                <a:latin typeface="Lexend"/>
                <a:ea typeface="Lexend"/>
                <a:cs typeface="Lexend"/>
              </a:rPr>
              <a:t>Technical clarity</a:t>
            </a:r>
          </a:p>
        </p:txBody>
      </p:sp>
      <p:pic>
        <p:nvPicPr>
          <p:cNvPr id="12" name="">
            <a:extLst xmlns:a="http://schemas.openxmlformats.org/drawingml/2006/main">
              <a:ext uri="{FF2B5EF4-FFF2-40B4-BE49-F238E27FC236}">
                <a16:creationId xmlns:a16="http://schemas.microsoft.com/office/drawing/2014/main" id="{7026C60B-E324-4988-85C0-9B63697C8930}"/>
              </a:ext>
            </a:extLst>
          </p:cNvPr>
          <p:cNvPicPr>
            <a:picLocks xmlns:a="http://schemas.openxmlformats.org/drawingml/2006/main" noChangeAspect="1"/>
          </p:cNvPicPr>
          <p:nvPr/>
        </p:nvPicPr>
        <p:blipFill>
          <a:blip xmlns:r="http://schemas.openxmlformats.org/officeDocument/2006/relationships" xmlns:a="http://schemas.openxmlformats.org/drawingml/2006/main" r:embed="Rdc6ec5999f454c9f"/>
          <a:stretch xmlns:a="http://schemas.openxmlformats.org/drawingml/2006/main"/>
        </p:blipFill>
        <p:spPr>
          <a:xfrm xmlns:a="http://schemas.openxmlformats.org/drawingml/2006/main">
            <a:off x="8181006" y="1933575"/>
            <a:ext cx="3164237" cy="3333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F020B9C-8E73-469B-85E5-53B6CA54C3CD}"/>
              </a:ext>
            </a:extLst>
          </p:cNvPr>
          <p:cNvSpPr>
            <a:spLocks xmlns:a="http://schemas.openxmlformats.org/drawingml/2006/main" noGrp="1"/>
          </p:cNvSpPr>
          <p:nvPr/>
        </p:nvSpPr>
        <p:spPr>
          <a:xfrm xmlns:a="http://schemas.openxmlformats.org/drawingml/2006/main">
            <a:off x="8096250" y="5381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a:solidFill>
                  <a:srgbClr val="211E1A"/>
                </a:solidFill>
                <a:latin typeface="Georgia"/>
                <a:ea typeface="Georgia"/>
                <a:cs typeface="Georgia"/>
              </a:defRPr>
            </a:defPPr>
          </a:lstStyle>
          <a:p xmlns:a="http://schemas.openxmlformats.org/drawingml/2006/main">
            <a:pPr>
              <a:lnSpc>
                <a:spcPct val="115000"/>
              </a:lnSpc>
              <a:buNone/>
              <a:defRPr sz="2175">
                <a:solidFill>
                  <a:srgbClr val="211E1A"/>
                </a:solidFill>
                <a:latin typeface="Georgia"/>
                <a:ea typeface="Georgia"/>
                <a:cs typeface="Georgia"/>
              </a:defRPr>
            </a:pPr>
            <a:r>
              <a:rPr sz="2175">
                <a:solidFill>
                  <a:srgbClr val="211E1A"/>
                </a:solidFill>
                <a:latin typeface="Georgia"/>
                <a:ea typeface="Georgia"/>
                <a:cs typeface="Georgia"/>
              </a:rPr>
              <a:t>Aero</a:t>
            </a:r>
          </a:p>
        </p:txBody>
      </p:sp>
      <p:sp>
        <p:nvSpPr>
          <p:cNvPr id="14" name="">
            <a:extLst xmlns:a="http://schemas.openxmlformats.org/drawingml/2006/main">
              <a:ext uri="{FF2B5EF4-FFF2-40B4-BE49-F238E27FC236}">
                <a16:creationId xmlns:a16="http://schemas.microsoft.com/office/drawing/2014/main" id="{9BFD7B78-FAD5-4779-945F-4EC5E875CD3C}"/>
              </a:ext>
            </a:extLst>
          </p:cNvPr>
          <p:cNvSpPr>
            <a:spLocks xmlns:a="http://schemas.openxmlformats.org/drawingml/2006/main" noGrp="1"/>
          </p:cNvSpPr>
          <p:nvPr/>
        </p:nvSpPr>
        <p:spPr>
          <a:xfrm xmlns:a="http://schemas.openxmlformats.org/drawingml/2006/main">
            <a:off x="8096250" y="5810250"/>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a:solidFill>
                  <a:srgbClr val="625D55"/>
                </a:solidFill>
                <a:latin typeface="Lexend"/>
                <a:ea typeface="Lexend"/>
                <a:cs typeface="Lexend"/>
              </a:defRPr>
            </a:defPPr>
          </a:lstStyle>
          <a:p xmlns:a="http://schemas.openxmlformats.org/drawingml/2006/main">
            <a:pPr>
              <a:lnSpc>
                <a:spcPct val="115000"/>
              </a:lnSpc>
              <a:buNone/>
              <a:defRPr sz="1650">
                <a:solidFill>
                  <a:srgbClr val="625D55"/>
                </a:solidFill>
                <a:latin typeface="Lexend"/>
                <a:ea typeface="Lexend"/>
                <a:cs typeface="Lexend"/>
              </a:defRPr>
            </a:pPr>
            <a:r>
              <a:rPr sz="1650">
                <a:solidFill>
                  <a:srgbClr val="625D55"/>
                </a:solidFill>
                <a:latin typeface="Lexend"/>
                <a:ea typeface="Lexend"/>
                <a:cs typeface="Lexend"/>
              </a:rPr>
              <a:t>Optimistic gloss</a:t>
            </a:r>
          </a:p>
        </p:txBody>
      </p:sp>
    </p:spTree>
    <p:extLst>
      <p:ext uri="{BB962C8B-B14F-4D97-AF65-F5344CB8AC3E}">
        <p14:creationId xmlns:p14="http://schemas.microsoft.com/office/powerpoint/2010/main" val="1151542331"/>
      </p:ext>
    </p:extLst>
  </p:cSld>
</p:sld>
</file>

<file path=ppt/slides/slide1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B9B0C9-EFA8-4A0F-86EA-572247574198}"/>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LIVE REDESIGN · 6 MINUTES</a:t>
            </a:r>
          </a:p>
        </p:txBody>
      </p:sp>
      <p:sp>
        <p:nvSpPr>
          <p:cNvPr id="2" name="">
            <a:extLst xmlns:a="http://schemas.openxmlformats.org/drawingml/2006/main">
              <a:ext uri="{FF2B5EF4-FFF2-40B4-BE49-F238E27FC236}">
                <a16:creationId xmlns:a16="http://schemas.microsoft.com/office/drawing/2014/main" id="{C2A0F99E-BB91-4C1E-9EF5-5985452CFDA6}"/>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Guide first. Implementation second.</a:t>
            </a:r>
          </a:p>
        </p:txBody>
      </p:sp>
      <p:sp>
        <p:nvSpPr>
          <p:cNvPr id="3" name="">
            <a:extLst xmlns:a="http://schemas.openxmlformats.org/drawingml/2006/main">
              <a:ext uri="{FF2B5EF4-FFF2-40B4-BE49-F238E27FC236}">
                <a16:creationId xmlns:a16="http://schemas.microsoft.com/office/drawing/2014/main" id="{BF3CAF12-0425-4A3E-BF81-CC523C40B168}"/>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CA6C73-E87A-4E26-B064-1AB77DA8BD62}"/>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4C34A9CE-15DA-448E-A5A5-D49938EDBDCC}"/>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10</a:t>
            </a:r>
          </a:p>
        </p:txBody>
      </p:sp>
      <p:sp>
        <p:nvSpPr>
          <p:cNvPr id="6" name="">
            <a:extLst xmlns:a="http://schemas.openxmlformats.org/drawingml/2006/main">
              <a:ext uri="{FF2B5EF4-FFF2-40B4-BE49-F238E27FC236}">
                <a16:creationId xmlns:a16="http://schemas.microsoft.com/office/drawing/2014/main" id="{6FE06271-3099-4560-BA15-AA2BCD8713AA}"/>
              </a:ext>
            </a:extLst>
          </p:cNvPr>
          <p:cNvSpPr>
            <a:spLocks xmlns:a="http://schemas.openxmlformats.org/drawingml/2006/main" noGrp="1"/>
          </p:cNvSpPr>
          <p:nvPr/>
        </p:nvSpPr>
        <p:spPr>
          <a:xfrm xmlns:a="http://schemas.openxmlformats.org/drawingml/2006/main">
            <a:off x="609600" y="20097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1  Create and review the guide</a:t>
            </a:r>
          </a:p>
        </p:txBody>
      </p:sp>
      <p:sp>
        <p:nvSpPr>
          <p:cNvPr id="7" name="">
            <a:extLst xmlns:a="http://schemas.openxmlformats.org/drawingml/2006/main">
              <a:ext uri="{FF2B5EF4-FFF2-40B4-BE49-F238E27FC236}">
                <a16:creationId xmlns:a16="http://schemas.microsoft.com/office/drawing/2014/main" id="{C7DE1DCC-307E-4F59-AF90-D0837A346FF9}"/>
              </a:ext>
            </a:extLst>
          </p:cNvPr>
          <p:cNvSpPr>
            <a:spLocks xmlns:a="http://schemas.openxmlformats.org/drawingml/2006/main" noGrp="1"/>
          </p:cNvSpPr>
          <p:nvPr/>
        </p:nvSpPr>
        <p:spPr>
          <a:xfrm xmlns:a="http://schemas.openxmlformats.org/drawingml/2006/main">
            <a:off x="609600" y="24669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Purpose, tokens, component rules, states and mobile.</a:t>
            </a:r>
          </a:p>
        </p:txBody>
      </p:sp>
      <p:sp>
        <p:nvSpPr>
          <p:cNvPr id="8" name="">
            <a:extLst xmlns:a="http://schemas.openxmlformats.org/drawingml/2006/main">
              <a:ext uri="{FF2B5EF4-FFF2-40B4-BE49-F238E27FC236}">
                <a16:creationId xmlns:a16="http://schemas.microsoft.com/office/drawing/2014/main" id="{47545DE8-14CE-4D97-A5B5-5B56630527DD}"/>
              </a:ext>
            </a:extLst>
          </p:cNvPr>
          <p:cNvSpPr>
            <a:spLocks xmlns:a="http://schemas.openxmlformats.org/drawingml/2006/main" noGrp="1"/>
          </p:cNvSpPr>
          <p:nvPr/>
        </p:nvSpPr>
        <p:spPr>
          <a:xfrm xmlns:a="http://schemas.openxmlformats.org/drawingml/2006/main">
            <a:off x="609600" y="34099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2  Apply one complete stylesheet</a:t>
            </a:r>
          </a:p>
        </p:txBody>
      </p:sp>
      <p:sp>
        <p:nvSpPr>
          <p:cNvPr id="9" name="">
            <a:extLst xmlns:a="http://schemas.openxmlformats.org/drawingml/2006/main">
              <a:ext uri="{FF2B5EF4-FFF2-40B4-BE49-F238E27FC236}">
                <a16:creationId xmlns:a16="http://schemas.microsoft.com/office/drawing/2014/main" id="{713CF4DB-CB28-48ED-8EE8-C848BB4BEDE7}"/>
              </a:ext>
            </a:extLst>
          </p:cNvPr>
          <p:cNvSpPr>
            <a:spLocks xmlns:a="http://schemas.openxmlformats.org/drawingml/2006/main" noGrp="1"/>
          </p:cNvSpPr>
          <p:nvPr/>
        </p:nvSpPr>
        <p:spPr>
          <a:xfrm xmlns:a="http://schemas.openxmlformats.org/drawingml/2006/main">
            <a:off x="609600" y="38671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Use the fixed DOM and facts. Inspect the rendered app.</a:t>
            </a:r>
          </a:p>
        </p:txBody>
      </p:sp>
      <p:sp>
        <p:nvSpPr>
          <p:cNvPr id="10" name="">
            <a:extLst xmlns:a="http://schemas.openxmlformats.org/drawingml/2006/main">
              <a:ext uri="{FF2B5EF4-FFF2-40B4-BE49-F238E27FC236}">
                <a16:creationId xmlns:a16="http://schemas.microsoft.com/office/drawing/2014/main" id="{76963BAA-5FA2-492B-B074-71C757B4EF28}"/>
              </a:ext>
            </a:extLst>
          </p:cNvPr>
          <p:cNvSpPr>
            <a:spLocks xmlns:a="http://schemas.openxmlformats.org/drawingml/2006/main" noGrp="1"/>
          </p:cNvSpPr>
          <p:nvPr/>
        </p:nvSpPr>
        <p:spPr>
          <a:xfrm xmlns:a="http://schemas.openxmlformats.org/drawingml/2006/main">
            <a:off x="609600" y="48101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3  Revise a specific observed failure</a:t>
            </a:r>
          </a:p>
        </p:txBody>
      </p:sp>
      <p:sp>
        <p:nvSpPr>
          <p:cNvPr id="11" name="">
            <a:extLst xmlns:a="http://schemas.openxmlformats.org/drawingml/2006/main">
              <a:ext uri="{FF2B5EF4-FFF2-40B4-BE49-F238E27FC236}">
                <a16:creationId xmlns:a16="http://schemas.microsoft.com/office/drawing/2014/main" id="{9397078D-FA9C-413B-841F-1D3145CCC03A}"/>
              </a:ext>
            </a:extLst>
          </p:cNvPr>
          <p:cNvSpPr>
            <a:spLocks xmlns:a="http://schemas.openxmlformats.org/drawingml/2006/main" noGrp="1"/>
          </p:cNvSpPr>
          <p:nvPr/>
        </p:nvSpPr>
        <p:spPr>
          <a:xfrm xmlns:a="http://schemas.openxmlformats.org/drawingml/2006/main">
            <a:off x="609600" y="52673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“At 390px, the date wraps away from its amount.”</a:t>
            </a:r>
          </a:p>
        </p:txBody>
      </p:sp>
    </p:spTree>
    <p:extLst>
      <p:ext uri="{BB962C8B-B14F-4D97-AF65-F5344CB8AC3E}">
        <p14:creationId xmlns:p14="http://schemas.microsoft.com/office/powerpoint/2010/main" val="983548441"/>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3186CD-736B-44D6-9650-AC9378EAE008}"/>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BUILD · 12 MINUTES</a:t>
            </a:r>
          </a:p>
        </p:txBody>
      </p:sp>
      <p:sp>
        <p:nvSpPr>
          <p:cNvPr id="2" name="">
            <a:extLst xmlns:a="http://schemas.openxmlformats.org/drawingml/2006/main">
              <a:ext uri="{FF2B5EF4-FFF2-40B4-BE49-F238E27FC236}">
                <a16:creationId xmlns:a16="http://schemas.microsoft.com/office/drawing/2014/main" id="{B5C23932-C3F4-4114-BD0D-48AFF7E76579}"/>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Your style. The same working app.</a:t>
            </a:r>
          </a:p>
        </p:txBody>
      </p:sp>
      <p:sp>
        <p:nvSpPr>
          <p:cNvPr id="3" name="">
            <a:extLst xmlns:a="http://schemas.openxmlformats.org/drawingml/2006/main">
              <a:ext uri="{FF2B5EF4-FFF2-40B4-BE49-F238E27FC236}">
                <a16:creationId xmlns:a16="http://schemas.microsoft.com/office/drawing/2014/main" id="{B78B438E-C71F-4B43-8803-A97D00B9F417}"/>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C7CE15-A4CB-4597-82D8-091B39828DF5}"/>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104B263B-A1D6-4150-8732-9387A5B535F2}"/>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11</a:t>
            </a:r>
          </a:p>
        </p:txBody>
      </p:sp>
      <p:sp>
        <p:nvSpPr>
          <p:cNvPr id="6" name="">
            <a:extLst xmlns:a="http://schemas.openxmlformats.org/drawingml/2006/main">
              <a:ext uri="{FF2B5EF4-FFF2-40B4-BE49-F238E27FC236}">
                <a16:creationId xmlns:a16="http://schemas.microsoft.com/office/drawing/2014/main" id="{FF918D02-C4E2-49C9-8B9A-62D9D0700FF1}"/>
              </a:ext>
            </a:extLst>
          </p:cNvPr>
          <p:cNvSpPr>
            <a:spLocks xmlns:a="http://schemas.openxmlformats.org/drawingml/2006/main" noGrp="1"/>
          </p:cNvSpPr>
          <p:nvPr/>
        </p:nvSpPr>
        <p:spPr>
          <a:xfrm xmlns:a="http://schemas.openxmlformats.org/drawingml/2006/main">
            <a:off x="609600" y="1971675"/>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Choose a point of view</a:t>
            </a:r>
          </a:p>
        </p:txBody>
      </p:sp>
      <p:sp>
        <p:nvSpPr>
          <p:cNvPr id="7" name="">
            <a:extLst xmlns:a="http://schemas.openxmlformats.org/drawingml/2006/main">
              <a:ext uri="{FF2B5EF4-FFF2-40B4-BE49-F238E27FC236}">
                <a16:creationId xmlns:a16="http://schemas.microsoft.com/office/drawing/2014/main" id="{A48C1AB3-F574-4339-B479-6E4F465E9AAA}"/>
              </a:ext>
            </a:extLst>
          </p:cNvPr>
          <p:cNvSpPr>
            <a:spLocks xmlns:a="http://schemas.openxmlformats.org/drawingml/2006/main" noGrp="1"/>
          </p:cNvSpPr>
          <p:nvPr/>
        </p:nvSpPr>
        <p:spPr>
          <a:xfrm xmlns:a="http://schemas.openxmlformats.org/drawingml/2006/main">
            <a:off x="609600" y="242887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Audience + mood + typography + density + priority.</a:t>
            </a:r>
          </a:p>
        </p:txBody>
      </p:sp>
      <p:sp>
        <p:nvSpPr>
          <p:cNvPr id="8" name="">
            <a:extLst xmlns:a="http://schemas.openxmlformats.org/drawingml/2006/main">
              <a:ext uri="{FF2B5EF4-FFF2-40B4-BE49-F238E27FC236}">
                <a16:creationId xmlns:a16="http://schemas.microsoft.com/office/drawing/2014/main" id="{A670D66C-8037-4978-A470-8E0FD718A754}"/>
              </a:ext>
            </a:extLst>
          </p:cNvPr>
          <p:cNvSpPr>
            <a:spLocks xmlns:a="http://schemas.openxmlformats.org/drawingml/2006/main" noGrp="1"/>
          </p:cNvSpPr>
          <p:nvPr/>
        </p:nvSpPr>
        <p:spPr>
          <a:xfrm xmlns:a="http://schemas.openxmlformats.org/drawingml/2006/main">
            <a:off x="609600" y="3343275"/>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Generate → review → apply</a:t>
            </a:r>
          </a:p>
        </p:txBody>
      </p:sp>
      <p:sp>
        <p:nvSpPr>
          <p:cNvPr id="9" name="">
            <a:extLst xmlns:a="http://schemas.openxmlformats.org/drawingml/2006/main">
              <a:ext uri="{FF2B5EF4-FFF2-40B4-BE49-F238E27FC236}">
                <a16:creationId xmlns:a16="http://schemas.microsoft.com/office/drawing/2014/main" id="{6BEE2390-F4B6-4D08-A943-0D44D16AB8DB}"/>
              </a:ext>
            </a:extLst>
          </p:cNvPr>
          <p:cNvSpPr>
            <a:spLocks xmlns:a="http://schemas.openxmlformats.org/drawingml/2006/main" noGrp="1"/>
          </p:cNvSpPr>
          <p:nvPr/>
        </p:nvSpPr>
        <p:spPr>
          <a:xfrm xmlns:a="http://schemas.openxmlformats.org/drawingml/2006/main">
            <a:off x="609600" y="380047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A design guide, then a complete CSS stylesheet.</a:t>
            </a:r>
          </a:p>
        </p:txBody>
      </p:sp>
      <p:sp>
        <p:nvSpPr>
          <p:cNvPr id="10" name="">
            <a:extLst xmlns:a="http://schemas.openxmlformats.org/drawingml/2006/main">
              <a:ext uri="{FF2B5EF4-FFF2-40B4-BE49-F238E27FC236}">
                <a16:creationId xmlns:a16="http://schemas.microsoft.com/office/drawing/2014/main" id="{F224C029-C168-4AAE-A32A-026E20B089A4}"/>
              </a:ext>
            </a:extLst>
          </p:cNvPr>
          <p:cNvSpPr>
            <a:spLocks xmlns:a="http://schemas.openxmlformats.org/drawingml/2006/main" noGrp="1"/>
          </p:cNvSpPr>
          <p:nvPr/>
        </p:nvSpPr>
        <p:spPr>
          <a:xfrm xmlns:a="http://schemas.openxmlformats.org/drawingml/2006/main">
            <a:off x="609600" y="4714875"/>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Check mobile and keyboard</a:t>
            </a:r>
          </a:p>
        </p:txBody>
      </p:sp>
      <p:sp>
        <p:nvSpPr>
          <p:cNvPr id="11" name="">
            <a:extLst xmlns:a="http://schemas.openxmlformats.org/drawingml/2006/main">
              <a:ext uri="{FF2B5EF4-FFF2-40B4-BE49-F238E27FC236}">
                <a16:creationId xmlns:a16="http://schemas.microsoft.com/office/drawing/2014/main" id="{0428E4BD-88E8-4B48-ABC5-B13701C518F7}"/>
              </a:ext>
            </a:extLst>
          </p:cNvPr>
          <p:cNvSpPr>
            <a:spLocks xmlns:a="http://schemas.openxmlformats.org/drawingml/2006/main" noGrp="1"/>
          </p:cNvSpPr>
          <p:nvPr/>
        </p:nvSpPr>
        <p:spPr>
          <a:xfrm xmlns:a="http://schemas.openxmlformats.org/drawingml/2006/main">
            <a:off x="609600" y="517207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Keep every amount, date, filter and detail dialog.</a:t>
            </a:r>
          </a:p>
        </p:txBody>
      </p:sp>
      <p:sp>
        <p:nvSpPr>
          <p:cNvPr id="12" name="">
            <a:extLst xmlns:a="http://schemas.openxmlformats.org/drawingml/2006/main">
              <a:ext uri="{FF2B5EF4-FFF2-40B4-BE49-F238E27FC236}">
                <a16:creationId xmlns:a16="http://schemas.microsoft.com/office/drawing/2014/main" id="{DF24B76C-8155-4015-BAA6-BB20F1E6FA3E}"/>
              </a:ext>
            </a:extLst>
          </p:cNvPr>
          <p:cNvSpPr>
            <a:spLocks xmlns:a="http://schemas.openxmlformats.org/drawingml/2006/main" noGrp="1"/>
          </p:cNvSpPr>
          <p:nvPr/>
        </p:nvSpPr>
        <p:spPr>
          <a:xfrm xmlns:a="http://schemas.openxmlformats.org/drawingml/2006/main">
            <a:off x="8982075" y="2419350"/>
            <a:ext cx="25050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a:solidFill>
                  <a:srgbClr val="211E1A"/>
                </a:solidFill>
                <a:latin typeface="Georgia"/>
                <a:ea typeface="Georgia"/>
                <a:cs typeface="Georgia"/>
              </a:defRPr>
            </a:defPPr>
          </a:lstStyle>
          <a:p xmlns:a="http://schemas.openxmlformats.org/drawingml/2006/main">
            <a:pPr>
              <a:lnSpc>
                <a:spcPct val="115000"/>
              </a:lnSpc>
              <a:buNone/>
              <a:defRPr sz="4650">
                <a:solidFill>
                  <a:srgbClr val="211E1A"/>
                </a:solidFill>
                <a:latin typeface="Georgia"/>
                <a:ea typeface="Georgia"/>
                <a:cs typeface="Georgia"/>
              </a:defRPr>
            </a:pPr>
            <a:r>
              <a:rPr sz="4650">
                <a:solidFill>
                  <a:srgbClr val="211E1A"/>
                </a:solidFill>
                <a:latin typeface="Georgia"/>
                <a:ea typeface="Georgia"/>
                <a:cs typeface="Georgia"/>
              </a:rPr>
              <a:t>12</a:t>
            </a:r>
          </a:p>
          <a:p xmlns:a="http://schemas.openxmlformats.org/drawingml/2006/main">
            <a:pPr>
              <a:lnSpc>
                <a:spcPct val="115000"/>
              </a:lnSpc>
              <a:buNone/>
              <a:defRPr sz="4650">
                <a:solidFill>
                  <a:srgbClr val="211E1A"/>
                </a:solidFill>
                <a:latin typeface="Georgia"/>
                <a:ea typeface="Georgia"/>
                <a:cs typeface="Georgia"/>
              </a:defRPr>
            </a:pPr>
            <a:r>
              <a:rPr sz="4650">
                <a:solidFill>
                  <a:srgbClr val="211E1A"/>
                </a:solidFill>
                <a:latin typeface="Georgia"/>
                <a:ea typeface="Georgia"/>
                <a:cs typeface="Georgia"/>
              </a:rPr>
              <a:t>minutes</a:t>
            </a:r>
          </a:p>
        </p:txBody>
      </p:sp>
      <p:sp>
        <p:nvSpPr>
          <p:cNvPr id="13" name="">
            <a:extLst xmlns:a="http://schemas.openxmlformats.org/drawingml/2006/main">
              <a:ext uri="{FF2B5EF4-FFF2-40B4-BE49-F238E27FC236}">
                <a16:creationId xmlns:a16="http://schemas.microsoft.com/office/drawing/2014/main" id="{F004E271-5579-436A-A550-473E6EFCE75D}"/>
              </a:ext>
            </a:extLst>
          </p:cNvPr>
          <p:cNvSpPr>
            <a:spLocks xmlns:a="http://schemas.openxmlformats.org/drawingml/2006/main" noGrp="1"/>
          </p:cNvSpPr>
          <p:nvPr/>
        </p:nvSpPr>
        <p:spPr>
          <a:xfrm xmlns:a="http://schemas.openxmlformats.org/drawingml/2006/main">
            <a:off x="8943975" y="4695825"/>
            <a:ext cx="2590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No AI access?</a:t>
            </a:r>
          </a:p>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Use a reference</a:t>
            </a:r>
          </a:p>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and change tokens.</a:t>
            </a:r>
          </a:p>
        </p:txBody>
      </p:sp>
    </p:spTree>
    <p:extLst>
      <p:ext uri="{BB962C8B-B14F-4D97-AF65-F5344CB8AC3E}">
        <p14:creationId xmlns:p14="http://schemas.microsoft.com/office/powerpoint/2010/main" val="892511637"/>
      </p:ext>
    </p:extLst>
  </p:cSld>
</p:sld>
</file>

<file path=ppt/slides/slide1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D8CC50-D212-4807-B6B7-B15153166734}"/>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PEER TEST · 6 MINUTES</a:t>
            </a:r>
          </a:p>
        </p:txBody>
      </p:sp>
      <p:sp>
        <p:nvSpPr>
          <p:cNvPr id="2" name="">
            <a:extLst xmlns:a="http://schemas.openxmlformats.org/drawingml/2006/main">
              <a:ext uri="{FF2B5EF4-FFF2-40B4-BE49-F238E27FC236}">
                <a16:creationId xmlns:a16="http://schemas.microsoft.com/office/drawing/2014/main" id="{9AC7255F-2D8E-426D-BBA2-6962EDD25201}"/>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Swap laptops. Let the screen explain.</a:t>
            </a:r>
          </a:p>
        </p:txBody>
      </p:sp>
      <p:sp>
        <p:nvSpPr>
          <p:cNvPr id="3" name="">
            <a:extLst xmlns:a="http://schemas.openxmlformats.org/drawingml/2006/main">
              <a:ext uri="{FF2B5EF4-FFF2-40B4-BE49-F238E27FC236}">
                <a16:creationId xmlns:a16="http://schemas.microsoft.com/office/drawing/2014/main" id="{8E474F09-2F1C-4CC8-94E7-DCD08D34BC3B}"/>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0CE238-CC65-409F-BCE5-410040CBDEAD}"/>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9264CCE6-6828-4EDE-AFCB-7016E3F2A02E}"/>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12</a:t>
            </a:r>
          </a:p>
        </p:txBody>
      </p:sp>
      <p:sp>
        <p:nvSpPr>
          <p:cNvPr id="6" name="">
            <a:extLst xmlns:a="http://schemas.openxmlformats.org/drawingml/2006/main">
              <a:ext uri="{FF2B5EF4-FFF2-40B4-BE49-F238E27FC236}">
                <a16:creationId xmlns:a16="http://schemas.microsoft.com/office/drawing/2014/main" id="{8DFB9CD3-4C15-4FFF-A52D-AAFD03620878}"/>
              </a:ext>
            </a:extLst>
          </p:cNvPr>
          <p:cNvSpPr>
            <a:spLocks xmlns:a="http://schemas.openxmlformats.org/drawingml/2006/main" noGrp="1"/>
          </p:cNvSpPr>
          <p:nvPr/>
        </p:nvSpPr>
        <p:spPr>
          <a:xfrm xmlns:a="http://schemas.openxmlformats.org/drawingml/2006/main">
            <a:off x="609600" y="20097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Give your partner the task</a:t>
            </a:r>
          </a:p>
        </p:txBody>
      </p:sp>
      <p:sp>
        <p:nvSpPr>
          <p:cNvPr id="7" name="">
            <a:extLst xmlns:a="http://schemas.openxmlformats.org/drawingml/2006/main">
              <a:ext uri="{FF2B5EF4-FFF2-40B4-BE49-F238E27FC236}">
                <a16:creationId xmlns:a16="http://schemas.microsoft.com/office/drawing/2014/main" id="{52B14158-6137-49C7-B098-82701BBBDA5F}"/>
              </a:ext>
            </a:extLst>
          </p:cNvPr>
          <p:cNvSpPr>
            <a:spLocks xmlns:a="http://schemas.openxmlformats.org/drawingml/2006/main" noGrp="1"/>
          </p:cNvSpPr>
          <p:nvPr/>
        </p:nvSpPr>
        <p:spPr>
          <a:xfrm xmlns:a="http://schemas.openxmlformats.org/drawingml/2006/main">
            <a:off x="609600" y="24669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“Find every bill due before Friday. Open one.”</a:t>
            </a:r>
          </a:p>
        </p:txBody>
      </p:sp>
      <p:sp>
        <p:nvSpPr>
          <p:cNvPr id="8" name="">
            <a:extLst xmlns:a="http://schemas.openxmlformats.org/drawingml/2006/main">
              <a:ext uri="{FF2B5EF4-FFF2-40B4-BE49-F238E27FC236}">
                <a16:creationId xmlns:a16="http://schemas.microsoft.com/office/drawing/2014/main" id="{B4D3E19D-DED2-4C95-A455-48EF37BB9350}"/>
              </a:ext>
            </a:extLst>
          </p:cNvPr>
          <p:cNvSpPr>
            <a:spLocks xmlns:a="http://schemas.openxmlformats.org/drawingml/2006/main" noGrp="1"/>
          </p:cNvSpPr>
          <p:nvPr/>
        </p:nvSpPr>
        <p:spPr>
          <a:xfrm xmlns:a="http://schemas.openxmlformats.org/drawingml/2006/main">
            <a:off x="609600" y="33909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Look for evidence</a:t>
            </a:r>
          </a:p>
        </p:txBody>
      </p:sp>
      <p:sp>
        <p:nvSpPr>
          <p:cNvPr id="9" name="">
            <a:extLst xmlns:a="http://schemas.openxmlformats.org/drawingml/2006/main">
              <a:ext uri="{FF2B5EF4-FFF2-40B4-BE49-F238E27FC236}">
                <a16:creationId xmlns:a16="http://schemas.microsoft.com/office/drawing/2014/main" id="{DC6B5C3B-EDCC-47D2-B489-CE44EC6E0E87}"/>
              </a:ext>
            </a:extLst>
          </p:cNvPr>
          <p:cNvSpPr>
            <a:spLocks xmlns:a="http://schemas.openxmlformats.org/drawingml/2006/main" noGrp="1"/>
          </p:cNvSpPr>
          <p:nvPr/>
        </p:nvSpPr>
        <p:spPr>
          <a:xfrm xmlns:a="http://schemas.openxmlformats.org/drawingml/2006/main">
            <a:off x="609600" y="38481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Dates and amounts, shared rules, 390px, keyboard.</a:t>
            </a:r>
          </a:p>
        </p:txBody>
      </p:sp>
      <p:sp>
        <p:nvSpPr>
          <p:cNvPr id="10" name="">
            <a:extLst xmlns:a="http://schemas.openxmlformats.org/drawingml/2006/main">
              <a:ext uri="{FF2B5EF4-FFF2-40B4-BE49-F238E27FC236}">
                <a16:creationId xmlns:a16="http://schemas.microsoft.com/office/drawing/2014/main" id="{F9252DD8-FF2E-4373-AEC8-6EE57CFB078E}"/>
              </a:ext>
            </a:extLst>
          </p:cNvPr>
          <p:cNvSpPr>
            <a:spLocks xmlns:a="http://schemas.openxmlformats.org/drawingml/2006/main" noGrp="1"/>
          </p:cNvSpPr>
          <p:nvPr/>
        </p:nvSpPr>
        <p:spPr>
          <a:xfrm xmlns:a="http://schemas.openxmlformats.org/drawingml/2006/main">
            <a:off x="609600" y="4772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Share one rule and one remaining issue</a:t>
            </a:r>
          </a:p>
        </p:txBody>
      </p:sp>
      <p:sp>
        <p:nvSpPr>
          <p:cNvPr id="11" name="">
            <a:extLst xmlns:a="http://schemas.openxmlformats.org/drawingml/2006/main">
              <a:ext uri="{FF2B5EF4-FFF2-40B4-BE49-F238E27FC236}">
                <a16:creationId xmlns:a16="http://schemas.microsoft.com/office/drawing/2014/main" id="{3A3D1EFA-2B37-4B1D-A644-3BF2DE4D1CA2}"/>
              </a:ext>
            </a:extLst>
          </p:cNvPr>
          <p:cNvSpPr>
            <a:spLocks xmlns:a="http://schemas.openxmlformats.org/drawingml/2006/main" noGrp="1"/>
          </p:cNvSpPr>
          <p:nvPr/>
        </p:nvSpPr>
        <p:spPr>
          <a:xfrm xmlns:a="http://schemas.openxmlformats.org/drawingml/2006/main">
            <a:off x="609600" y="52292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What improved? What still gets in the user’s way?</a:t>
            </a:r>
          </a:p>
        </p:txBody>
      </p:sp>
    </p:spTree>
    <p:extLst>
      <p:ext uri="{BB962C8B-B14F-4D97-AF65-F5344CB8AC3E}">
        <p14:creationId xmlns:p14="http://schemas.microsoft.com/office/powerpoint/2010/main" val="1470131887"/>
      </p:ext>
    </p:extLst>
  </p:cSld>
</p:sld>
</file>

<file path=ppt/slides/slide1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471F3F-C236-4151-94BC-998B51D998AA}"/>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USE IT TONIGHT</a:t>
            </a:r>
          </a:p>
        </p:txBody>
      </p:sp>
      <p:sp>
        <p:nvSpPr>
          <p:cNvPr id="2" name="">
            <a:extLst xmlns:a="http://schemas.openxmlformats.org/drawingml/2006/main">
              <a:ext uri="{FF2B5EF4-FFF2-40B4-BE49-F238E27FC236}">
                <a16:creationId xmlns:a16="http://schemas.microsoft.com/office/drawing/2014/main" id="{DA024252-E46D-4F8D-B500-EE36191402EC}"/>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Bring the rules into your own hack.</a:t>
            </a:r>
          </a:p>
        </p:txBody>
      </p:sp>
      <p:sp>
        <p:nvSpPr>
          <p:cNvPr id="3" name="">
            <a:extLst xmlns:a="http://schemas.openxmlformats.org/drawingml/2006/main">
              <a:ext uri="{FF2B5EF4-FFF2-40B4-BE49-F238E27FC236}">
                <a16:creationId xmlns:a16="http://schemas.microsoft.com/office/drawing/2014/main" id="{FC56FEDD-734A-4035-9A3E-050F6D992249}"/>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B41F49-2DD9-4DD3-BDC4-7E2502C3D2D5}"/>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A19784E8-42D3-4203-B5C1-0D731F3DEBEF}"/>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13</a:t>
            </a:r>
          </a:p>
        </p:txBody>
      </p:sp>
      <p:sp>
        <p:nvSpPr>
          <p:cNvPr id="6" name="">
            <a:extLst xmlns:a="http://schemas.openxmlformats.org/drawingml/2006/main">
              <a:ext uri="{FF2B5EF4-FFF2-40B4-BE49-F238E27FC236}">
                <a16:creationId xmlns:a16="http://schemas.microsoft.com/office/drawing/2014/main" id="{5597DBD6-FDF4-4A14-92E8-B7639D55D882}"/>
              </a:ext>
            </a:extLst>
          </p:cNvPr>
          <p:cNvSpPr>
            <a:spLocks xmlns:a="http://schemas.openxmlformats.org/drawingml/2006/main" noGrp="1"/>
          </p:cNvSpPr>
          <p:nvPr/>
        </p:nvSpPr>
        <p:spPr>
          <a:xfrm xmlns:a="http://schemas.openxmlformats.org/drawingml/2006/main">
            <a:off x="609600" y="20097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Write the task and save the guide</a:t>
            </a:r>
          </a:p>
        </p:txBody>
      </p:sp>
      <p:sp>
        <p:nvSpPr>
          <p:cNvPr id="7" name="">
            <a:extLst xmlns:a="http://schemas.openxmlformats.org/drawingml/2006/main">
              <a:ext uri="{FF2B5EF4-FFF2-40B4-BE49-F238E27FC236}">
                <a16:creationId xmlns:a16="http://schemas.microsoft.com/office/drawing/2014/main" id="{13581E67-5B24-4F3E-A5CE-135D47BBDD0C}"/>
              </a:ext>
            </a:extLst>
          </p:cNvPr>
          <p:cNvSpPr>
            <a:spLocks xmlns:a="http://schemas.openxmlformats.org/drawingml/2006/main" noGrp="1"/>
          </p:cNvSpPr>
          <p:nvPr/>
        </p:nvSpPr>
        <p:spPr>
          <a:xfrm xmlns:a="http://schemas.openxmlformats.org/drawingml/2006/main">
            <a:off x="609600" y="24669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Give your coding agent rules it can keep returning to.</a:t>
            </a:r>
          </a:p>
        </p:txBody>
      </p:sp>
      <p:sp>
        <p:nvSpPr>
          <p:cNvPr id="8" name="">
            <a:extLst xmlns:a="http://schemas.openxmlformats.org/drawingml/2006/main">
              <a:ext uri="{FF2B5EF4-FFF2-40B4-BE49-F238E27FC236}">
                <a16:creationId xmlns:a16="http://schemas.microsoft.com/office/drawing/2014/main" id="{94DCF934-D6F5-4A1A-9782-0F63D8A951ED}"/>
              </a:ext>
            </a:extLst>
          </p:cNvPr>
          <p:cNvSpPr>
            <a:spLocks xmlns:a="http://schemas.openxmlformats.org/drawingml/2006/main" noGrp="1"/>
          </p:cNvSpPr>
          <p:nvPr/>
        </p:nvSpPr>
        <p:spPr>
          <a:xfrm xmlns:a="http://schemas.openxmlformats.org/drawingml/2006/main">
            <a:off x="609600" y="33909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Reuse components; change one thing at a time</a:t>
            </a:r>
          </a:p>
        </p:txBody>
      </p:sp>
      <p:sp>
        <p:nvSpPr>
          <p:cNvPr id="9" name="">
            <a:extLst xmlns:a="http://schemas.openxmlformats.org/drawingml/2006/main">
              <a:ext uri="{FF2B5EF4-FFF2-40B4-BE49-F238E27FC236}">
                <a16:creationId xmlns:a16="http://schemas.microsoft.com/office/drawing/2014/main" id="{1FDE16D2-DC9F-4D70-845A-02DF3931BAF1}"/>
              </a:ext>
            </a:extLst>
          </p:cNvPr>
          <p:cNvSpPr>
            <a:spLocks xmlns:a="http://schemas.openxmlformats.org/drawingml/2006/main" noGrp="1"/>
          </p:cNvSpPr>
          <p:nvPr/>
        </p:nvSpPr>
        <p:spPr>
          <a:xfrm xmlns:a="http://schemas.openxmlformats.org/drawingml/2006/main">
            <a:off x="609600" y="38481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Inspect the rendered result before moving on.</a:t>
            </a:r>
          </a:p>
        </p:txBody>
      </p:sp>
      <p:sp>
        <p:nvSpPr>
          <p:cNvPr id="10" name="">
            <a:extLst xmlns:a="http://schemas.openxmlformats.org/drawingml/2006/main">
              <a:ext uri="{FF2B5EF4-FFF2-40B4-BE49-F238E27FC236}">
                <a16:creationId xmlns:a16="http://schemas.microsoft.com/office/drawing/2014/main" id="{DAA2F53F-1093-41E6-B7A0-1297412DE1D1}"/>
              </a:ext>
            </a:extLst>
          </p:cNvPr>
          <p:cNvSpPr>
            <a:spLocks xmlns:a="http://schemas.openxmlformats.org/drawingml/2006/main" noGrp="1"/>
          </p:cNvSpPr>
          <p:nvPr/>
        </p:nvSpPr>
        <p:spPr>
          <a:xfrm xmlns:a="http://schemas.openxmlformats.org/drawingml/2006/main">
            <a:off x="609600" y="4772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Make trustworthy information easy to use</a:t>
            </a:r>
          </a:p>
        </p:txBody>
      </p:sp>
      <p:sp>
        <p:nvSpPr>
          <p:cNvPr id="11" name="">
            <a:extLst xmlns:a="http://schemas.openxmlformats.org/drawingml/2006/main">
              <a:ext uri="{FF2B5EF4-FFF2-40B4-BE49-F238E27FC236}">
                <a16:creationId xmlns:a16="http://schemas.microsoft.com/office/drawing/2014/main" id="{4EABC4AC-E616-4B07-99F0-56406AEF2CB7}"/>
              </a:ext>
            </a:extLst>
          </p:cNvPr>
          <p:cNvSpPr>
            <a:spLocks xmlns:a="http://schemas.openxmlformats.org/drawingml/2006/main" noGrp="1"/>
          </p:cNvSpPr>
          <p:nvPr/>
        </p:nvSpPr>
        <p:spPr>
          <a:xfrm xmlns:a="http://schemas.openxmlformats.org/drawingml/2006/main">
            <a:off x="609600" y="52292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A clear date and amount matter more than decoration.</a:t>
            </a:r>
          </a:p>
        </p:txBody>
      </p:sp>
    </p:spTree>
    <p:extLst>
      <p:ext uri="{BB962C8B-B14F-4D97-AF65-F5344CB8AC3E}">
        <p14:creationId xmlns:p14="http://schemas.microsoft.com/office/powerpoint/2010/main" val="1189444424"/>
      </p:ext>
    </p:extLst>
  </p:cSld>
</p:sld>
</file>

<file path=ppt/slides/slide1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252208-CDDF-45BF-B6C7-5C2617AB2747}"/>
              </a:ext>
            </a:extLst>
          </p:cNvPr>
          <p:cNvSpPr>
            <a:spLocks xmlns:a="http://schemas.openxmlformats.org/drawingml/2006/main" noGrp="1"/>
          </p:cNvSpPr>
          <p:nvPr/>
        </p:nvSpPr>
        <p:spPr>
          <a:xfrm xmlns:a="http://schemas.openxmlformats.org/drawingml/2006/main">
            <a:off x="609600" y="342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a:solidFill>
                  <a:srgbClr val="654613"/>
                </a:solidFill>
                <a:latin typeface="Lexend"/>
                <a:ea typeface="Lexend"/>
                <a:cs typeface="Lexend"/>
              </a:defRPr>
            </a:defPPr>
          </a:lstStyle>
          <a:p xmlns:a="http://schemas.openxmlformats.org/drawingml/2006/main">
            <a:pPr>
              <a:lnSpc>
                <a:spcPct val="115000"/>
              </a:lnSpc>
              <a:buNone/>
              <a:defRPr sz="1200">
                <a:solidFill>
                  <a:srgbClr val="654613"/>
                </a:solidFill>
                <a:latin typeface="Lexend"/>
                <a:ea typeface="Lexend"/>
                <a:cs typeface="Lexend"/>
              </a:defRPr>
            </a:pPr>
            <a:r>
              <a:rPr sz="1200">
                <a:solidFill>
                  <a:srgbClr val="654613"/>
                </a:solidFill>
                <a:latin typeface="Lexend"/>
                <a:ea typeface="Lexend"/>
                <a:cs typeface="Lexend"/>
              </a:rPr>
              <a:t>EXPORT AND CONTINUE</a:t>
            </a:r>
          </a:p>
        </p:txBody>
      </p:sp>
      <p:sp>
        <p:nvSpPr>
          <p:cNvPr id="2" name="">
            <a:extLst xmlns:a="http://schemas.openxmlformats.org/drawingml/2006/main">
              <a:ext uri="{FF2B5EF4-FFF2-40B4-BE49-F238E27FC236}">
                <a16:creationId xmlns:a16="http://schemas.microsoft.com/office/drawing/2014/main" id="{803C35CD-98A6-46B2-BE90-30E6B362D879}"/>
              </a:ext>
            </a:extLst>
          </p:cNvPr>
          <p:cNvSpPr>
            <a:spLocks xmlns:a="http://schemas.openxmlformats.org/drawingml/2006/main" noGrp="1"/>
          </p:cNvSpPr>
          <p:nvPr/>
        </p:nvSpPr>
        <p:spPr>
          <a:xfrm xmlns:a="http://schemas.openxmlformats.org/drawingml/2006/main">
            <a:off x="609600" y="819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a:solidFill>
                  <a:srgbClr val="211E1A"/>
                </a:solidFill>
                <a:latin typeface="Georgia"/>
                <a:ea typeface="Georgia"/>
                <a:cs typeface="Georgia"/>
              </a:defRPr>
            </a:defPPr>
          </a:lstStyle>
          <a:p xmlns:a="http://schemas.openxmlformats.org/drawingml/2006/main">
            <a:pPr>
              <a:lnSpc>
                <a:spcPct val="115000"/>
              </a:lnSpc>
              <a:buNone/>
              <a:defRPr sz="3900">
                <a:solidFill>
                  <a:srgbClr val="211E1A"/>
                </a:solidFill>
                <a:latin typeface="Georgia"/>
                <a:ea typeface="Georgia"/>
                <a:cs typeface="Georgia"/>
              </a:defRPr>
            </a:pPr>
            <a:r>
              <a:rPr sz="3900">
                <a:solidFill>
                  <a:srgbClr val="211E1A"/>
                </a:solidFill>
                <a:latin typeface="Georgia"/>
                <a:ea typeface="Georgia"/>
                <a:cs typeface="Georgia"/>
              </a:rPr>
              <a:t>Keep your work. Keep asking why.</a:t>
            </a:r>
          </a:p>
        </p:txBody>
      </p:sp>
      <p:sp>
        <p:nvSpPr>
          <p:cNvPr id="3" name="">
            <a:extLst xmlns:a="http://schemas.openxmlformats.org/drawingml/2006/main">
              <a:ext uri="{FF2B5EF4-FFF2-40B4-BE49-F238E27FC236}">
                <a16:creationId xmlns:a16="http://schemas.microsoft.com/office/drawing/2014/main" id="{B7EEDEE8-3263-4DC5-B670-B6F59C671C12}"/>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9FFE88-CB45-4977-8D9D-562F3F97A074}"/>
              </a:ext>
            </a:extLst>
          </p:cNvPr>
          <p:cNvSpPr>
            <a:spLocks xmlns:a="http://schemas.openxmlformats.org/drawingml/2006/main" noGrp="1"/>
          </p:cNvSpPr>
          <p:nvPr/>
        </p:nvSpPr>
        <p:spPr>
          <a:xfrm xmlns:a="http://schemas.openxmlformats.org/drawingml/2006/main">
            <a:off x="609600" y="64008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TREASURY  /  HACKNC 2026</a:t>
            </a:r>
          </a:p>
        </p:txBody>
      </p:sp>
      <p:sp>
        <p:nvSpPr>
          <p:cNvPr id="5" name="">
            <a:extLst xmlns:a="http://schemas.openxmlformats.org/drawingml/2006/main">
              <a:ext uri="{FF2B5EF4-FFF2-40B4-BE49-F238E27FC236}">
                <a16:creationId xmlns:a16="http://schemas.microsoft.com/office/drawing/2014/main" id="{CC771E84-81A4-4836-9F4B-33EF67FB707D}"/>
              </a:ext>
            </a:extLst>
          </p:cNvPr>
          <p:cNvSpPr>
            <a:spLocks xmlns:a="http://schemas.openxmlformats.org/drawingml/2006/main" noGrp="1"/>
          </p:cNvSpPr>
          <p:nvPr/>
        </p:nvSpPr>
        <p:spPr>
          <a:xfrm xmlns:a="http://schemas.openxmlformats.org/drawingml/2006/main">
            <a:off x="11049000" y="64008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a:solidFill>
                  <a:srgbClr val="625D55"/>
                </a:solidFill>
                <a:latin typeface="Lexend"/>
                <a:ea typeface="Lexend"/>
                <a:cs typeface="Lexend"/>
              </a:defRPr>
            </a:defPPr>
          </a:lstStyle>
          <a:p xmlns:a="http://schemas.openxmlformats.org/drawingml/2006/main">
            <a:pPr>
              <a:lnSpc>
                <a:spcPct val="115000"/>
              </a:lnSpc>
              <a:buNone/>
              <a:defRPr sz="1050">
                <a:solidFill>
                  <a:srgbClr val="625D55"/>
                </a:solidFill>
                <a:latin typeface="Lexend"/>
                <a:ea typeface="Lexend"/>
                <a:cs typeface="Lexend"/>
              </a:defRPr>
            </a:pPr>
            <a:r>
              <a:rPr sz="1050">
                <a:solidFill>
                  <a:srgbClr val="625D55"/>
                </a:solidFill>
                <a:latin typeface="Lexend"/>
                <a:ea typeface="Lexend"/>
                <a:cs typeface="Lexend"/>
              </a:rPr>
              <a:t>14</a:t>
            </a:r>
          </a:p>
        </p:txBody>
      </p:sp>
      <p:sp>
        <p:nvSpPr>
          <p:cNvPr id="6" name="">
            <a:extLst xmlns:a="http://schemas.openxmlformats.org/drawingml/2006/main">
              <a:ext uri="{FF2B5EF4-FFF2-40B4-BE49-F238E27FC236}">
                <a16:creationId xmlns:a16="http://schemas.microsoft.com/office/drawing/2014/main" id="{9C881698-05D5-46F3-B153-3E06738F458F}"/>
              </a:ext>
            </a:extLst>
          </p:cNvPr>
          <p:cNvSpPr>
            <a:spLocks xmlns:a="http://schemas.openxmlformats.org/drawingml/2006/main" noGrp="1"/>
          </p:cNvSpPr>
          <p:nvPr/>
        </p:nvSpPr>
        <p:spPr>
          <a:xfrm xmlns:a="http://schemas.openxmlformats.org/drawingml/2006/main">
            <a:off x="609600" y="20383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a:solidFill>
                  <a:srgbClr val="211E1A"/>
                </a:solidFill>
                <a:latin typeface="Lexend"/>
                <a:ea typeface="Lexend"/>
                <a:cs typeface="Lexend"/>
              </a:defRPr>
            </a:defPPr>
          </a:lstStyle>
          <a:p xmlns:a="http://schemas.openxmlformats.org/drawingml/2006/main">
            <a:pPr>
              <a:lnSpc>
                <a:spcPct val="115000"/>
              </a:lnSpc>
              <a:buNone/>
              <a:defRPr sz="2325">
                <a:solidFill>
                  <a:srgbClr val="211E1A"/>
                </a:solidFill>
                <a:latin typeface="Lexend"/>
                <a:ea typeface="Lexend"/>
                <a:cs typeface="Lexend"/>
              </a:defRPr>
            </a:pPr>
            <a:r>
              <a:rPr sz="2325">
                <a:solidFill>
                  <a:srgbClr val="211E1A"/>
                </a:solidFill>
                <a:latin typeface="Lexend"/>
                <a:ea typeface="Lexend"/>
                <a:cs typeface="Lexend"/>
              </a:rPr>
              <a:t>Download your app + your design guide</a:t>
            </a:r>
          </a:p>
        </p:txBody>
      </p:sp>
      <p:sp>
        <p:nvSpPr>
          <p:cNvPr id="7" name="">
            <a:extLst xmlns:a="http://schemas.openxmlformats.org/drawingml/2006/main">
              <a:ext uri="{FF2B5EF4-FFF2-40B4-BE49-F238E27FC236}">
                <a16:creationId xmlns:a16="http://schemas.microsoft.com/office/drawing/2014/main" id="{B702C0E2-FF05-45B2-866D-2293E82DD37A}"/>
              </a:ext>
            </a:extLst>
          </p:cNvPr>
          <p:cNvSpPr>
            <a:spLocks xmlns:a="http://schemas.openxmlformats.org/drawingml/2006/main" noGrp="1"/>
          </p:cNvSpPr>
          <p:nvPr/>
        </p:nvSpPr>
        <p:spPr>
          <a:xfrm xmlns:a="http://schemas.openxmlformats.org/drawingml/2006/main">
            <a:off x="609600" y="24955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a:solidFill>
                  <a:srgbClr val="625D55"/>
                </a:solidFill>
                <a:latin typeface="Lexend"/>
                <a:ea typeface="Lexend"/>
                <a:cs typeface="Lexend"/>
              </a:defRPr>
            </a:defPPr>
          </a:lstStyle>
          <a:p xmlns:a="http://schemas.openxmlformats.org/drawingml/2006/main">
            <a:pPr>
              <a:lnSpc>
                <a:spcPct val="115000"/>
              </a:lnSpc>
              <a:buNone/>
              <a:defRPr sz="1875">
                <a:solidFill>
                  <a:srgbClr val="625D55"/>
                </a:solidFill>
                <a:latin typeface="Lexend"/>
                <a:ea typeface="Lexend"/>
                <a:cs typeface="Lexend"/>
              </a:defRPr>
            </a:pPr>
            <a:r>
              <a:rPr sz="1875">
                <a:solidFill>
                  <a:srgbClr val="625D55"/>
                </a:solidFill>
                <a:latin typeface="Lexend"/>
                <a:ea typeface="Lexend"/>
                <a:cs typeface="Lexend"/>
              </a:rPr>
              <a:t>Keep the working interface and the decisions behind it.</a:t>
            </a:r>
          </a:p>
        </p:txBody>
      </p:sp>
      <p:sp>
        <p:nvSpPr>
          <p:cNvPr id="8" name="">
            <a:extLst xmlns:a="http://schemas.openxmlformats.org/drawingml/2006/main">
              <a:ext uri="{FF2B5EF4-FFF2-40B4-BE49-F238E27FC236}">
                <a16:creationId xmlns:a16="http://schemas.microsoft.com/office/drawing/2014/main" id="{802A5193-6DD8-4784-9456-D2A5F0AD4E4A}"/>
              </a:ext>
            </a:extLst>
          </p:cNvPr>
          <p:cNvSpPr>
            <a:spLocks xmlns:a="http://schemas.openxmlformats.org/drawingml/2006/main" noGrp="1"/>
          </p:cNvSpPr>
          <p:nvPr/>
        </p:nvSpPr>
        <p:spPr>
          <a:xfrm xmlns:a="http://schemas.openxmlformats.org/drawingml/2006/main">
            <a:off x="609600" y="3781425"/>
            <a:ext cx="723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a:solidFill>
                  <a:srgbClr val="211E1A"/>
                </a:solidFill>
                <a:latin typeface="Georgia"/>
                <a:ea typeface="Georgia"/>
                <a:cs typeface="Georgia"/>
              </a:defRPr>
            </a:defPPr>
          </a:lstStyle>
          <a:p xmlns:a="http://schemas.openxmlformats.org/drawingml/2006/main">
            <a:pPr>
              <a:lnSpc>
                <a:spcPct val="115000"/>
              </a:lnSpc>
              <a:buNone/>
              <a:defRPr sz="3450">
                <a:solidFill>
                  <a:srgbClr val="211E1A"/>
                </a:solidFill>
                <a:latin typeface="Georgia"/>
                <a:ea typeface="Georgia"/>
                <a:cs typeface="Georgia"/>
              </a:defRPr>
            </a:pPr>
            <a:r>
              <a:rPr sz="3450">
                <a:solidFill>
                  <a:srgbClr val="211E1A"/>
                </a:solidFill>
                <a:latin typeface="Georgia"/>
                <a:ea typeface="Georgia"/>
                <a:cs typeface="Georgia"/>
              </a:rPr>
              <a:t>Which rule will you</a:t>
            </a:r>
          </a:p>
          <a:p xmlns:a="http://schemas.openxmlformats.org/drawingml/2006/main">
            <a:pPr>
              <a:lnSpc>
                <a:spcPct val="115000"/>
              </a:lnSpc>
              <a:buNone/>
              <a:defRPr sz="3450">
                <a:solidFill>
                  <a:srgbClr val="211E1A"/>
                </a:solidFill>
                <a:latin typeface="Georgia"/>
                <a:ea typeface="Georgia"/>
                <a:cs typeface="Georgia"/>
              </a:defRPr>
            </a:pPr>
            <a:r>
              <a:rPr sz="3450">
                <a:solidFill>
                  <a:srgbClr val="211E1A"/>
                </a:solidFill>
                <a:latin typeface="Georgia"/>
                <a:ea typeface="Georgia"/>
                <a:cs typeface="Georgia"/>
              </a:rPr>
              <a:t>use in your hack?</a:t>
            </a:r>
          </a:p>
        </p:txBody>
      </p:sp>
      <p:sp>
        <p:nvSpPr>
          <p:cNvPr id="9" name="">
            <a:extLst xmlns:a="http://schemas.openxmlformats.org/drawingml/2006/main">
              <a:ext uri="{FF2B5EF4-FFF2-40B4-BE49-F238E27FC236}">
                <a16:creationId xmlns:a16="http://schemas.microsoft.com/office/drawing/2014/main" id="{E4EBD6E2-ADD5-46AE-97D1-56E67A254A04}"/>
              </a:ext>
            </a:extLst>
          </p:cNvPr>
          <p:cNvSpPr>
            <a:spLocks xmlns:a="http://schemas.openxmlformats.org/drawingml/2006/main" noGrp="1"/>
          </p:cNvSpPr>
          <p:nvPr/>
        </p:nvSpPr>
        <p:spPr>
          <a:xfrm xmlns:a="http://schemas.openxmlformats.org/drawingml/2006/main">
            <a:off x="609600" y="53625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a:solidFill>
                  <a:srgbClr val="625D55"/>
                </a:solidFill>
                <a:latin typeface="Lexend"/>
                <a:ea typeface="Lexend"/>
                <a:cs typeface="Lexend"/>
              </a:defRPr>
            </a:defPPr>
          </a:lstStyle>
          <a:p xmlns:a="http://schemas.openxmlformats.org/drawingml/2006/main">
            <a:pPr>
              <a:lnSpc>
                <a:spcPct val="115000"/>
              </a:lnSpc>
              <a:buNone/>
              <a:defRPr sz="1950">
                <a:solidFill>
                  <a:srgbClr val="625D55"/>
                </a:solidFill>
                <a:latin typeface="Lexend"/>
                <a:ea typeface="Lexend"/>
                <a:cs typeface="Lexend"/>
              </a:defRPr>
            </a:pPr>
            <a:r>
              <a:rPr sz="1950">
                <a:solidFill>
                  <a:srgbClr val="625D55"/>
                </a:solidFill>
                <a:latin typeface="Lexend"/>
                <a:ea typeface="Lexend"/>
                <a:cs typeface="Lexend"/>
              </a:rPr>
              <a:t>Junead Khan  ·  treasury.sh</a:t>
            </a:r>
          </a:p>
        </p:txBody>
      </p:sp>
      <p:pic>
        <p:nvPicPr>
          <p:cNvPr id="10" name="">
            <a:extLst xmlns:a="http://schemas.openxmlformats.org/drawingml/2006/main">
              <a:ext uri="{FF2B5EF4-FFF2-40B4-BE49-F238E27FC236}">
                <a16:creationId xmlns:a16="http://schemas.microsoft.com/office/drawing/2014/main" id="{763E2CB4-5D36-4998-9418-142FE42E8CD8}"/>
              </a:ext>
            </a:extLst>
          </p:cNvPr>
          <p:cNvPicPr>
            <a:picLocks xmlns:a="http://schemas.openxmlformats.org/drawingml/2006/main" noChangeAspect="1"/>
          </p:cNvPicPr>
          <p:nvPr/>
        </p:nvPicPr>
        <p:blipFill>
          <a:blip xmlns:r="http://schemas.openxmlformats.org/officeDocument/2006/relationships" xmlns:a="http://schemas.openxmlformats.org/drawingml/2006/main" r:embed="R57dfa4f00cc34fe7"/>
          <a:stretch xmlns:a="http://schemas.openxmlformats.org/drawingml/2006/main"/>
        </p:blipFill>
        <p:spPr>
          <a:xfrm xmlns:a="http://schemas.openxmlformats.org/drawingml/2006/main">
            <a:off x="8696325" y="2495550"/>
            <a:ext cx="2438400" cy="2438400"/>
          </a:xfrm>
          <a:prstGeom xmlns:a="http://schemas.openxmlformats.org/drawingml/2006/main" prst="rect">
            <a:avLst/>
          </a:prstGeom>
        </p:spPr>
      </p:pic>
    </p:spTree>
    <p:extLst>
      <p:ext uri="{BB962C8B-B14F-4D97-AF65-F5344CB8AC3E}">
        <p14:creationId xmlns:p14="http://schemas.microsoft.com/office/powerpoint/2010/main" val="325938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2026-10-10T00:46:24.7210000Z</dcterms:created>
  <dcterms:modified xsi:type="dcterms:W3CDTF">2026-10-10T00:46:24.7210000Z</dcterms:modified>
</coreProperties>
</file>